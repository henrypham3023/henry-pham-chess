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069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simulated client handover. Acknowledge Eddie Sharick as the source of the original learning/tutorial foundation and make clear that the submitted project has been heavily modified and extended into a larger advanced desktop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was selected because chess is a realistic software engineering problem. It requires data structures, algorithms, UI design, testing and defensive handling of edge cases.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give a quick tour of the final product. Point to the menu on the left and Game Review on the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documentation contains the full Gantt chart and logbook. The presentation summarises the approach for the simulated client.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each tool. The task asks for tool justification, programming language justification, documentation tools, testing tools and security programming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modular file structure from VS Code. This directly supports the Component B criteria for modularisation, code structure and maintainability.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the code aligns with the UML and documentation. Emphasise that comments explain why code exists, not only what individual lines 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board in the live demo. Highlight promotion popup and premove arrows as interactive features that go beyond a basic chess 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bot ratings are simulated through search depth, opening behaviour, mistake frequency and Stockfish integration. Acknowledge that this is a school-project approximation, not an official Elo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puzzle bugs were found and fixed. This shows refinement and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strongest advanced features. Mention Stockfish is optional and the app has a fallback if the executable is missing.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SE-12-07: desktop app defensive data handling, race conditions and error handling.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difference between automated and manual testing. Mention that bugs found during testing were not ignored; they were refined and documented.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how the project is managed and deployed outside the IDE. Mention GitHub releases or the downloadable zip if used.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preparing to demonstrate the executable live. Connect back to the criteria: tools, testing, security, challenges and live demonstration.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r>
              <a:rPr lang="en-GB" dirty="0"/>
              <a:t> </a:t>
            </a:r>
            <a:endParaRPr lang="en-AU" dirty="0"/>
          </a:p>
        </p:txBody>
      </p:sp>
      <p:sp>
        <p:nvSpPr>
          <p:cNvPr id="3" name="Shape 1"/>
          <p:cNvSpPr/>
          <p:nvPr/>
        </p:nvSpPr>
        <p:spPr>
          <a:xfrm>
            <a:off x="6272784" y="466344"/>
            <a:ext cx="5376672" cy="4690872"/>
          </a:xfrm>
          <a:prstGeom prst="roundRect">
            <a:avLst>
              <a:gd name="adj" fmla="val 1559"/>
            </a:avLst>
          </a:prstGeom>
          <a:solidFill>
            <a:srgbClr val="0B0F0C"/>
          </a:solidFill>
          <a:ln w="8890">
            <a:solidFill>
              <a:srgbClr val="2E402D">
                <a:alpha val="90000"/>
              </a:srgbClr>
            </a:solidFill>
            <a:prstDash val="solid"/>
          </a:ln>
        </p:spPr>
        <p:txBody>
          <a:bodyPr/>
          <a:lstStyle/>
          <a:p>
            <a:endParaRPr lang="en-AU"/>
          </a:p>
        </p:txBody>
      </p:sp>
      <p:pic>
        <p:nvPicPr>
          <p:cNvPr id="4" name="Image 0" descr="/mnt/data/image(236).png"/>
          <p:cNvPicPr>
            <a:picLocks noChangeAspect="1"/>
          </p:cNvPicPr>
          <p:nvPr/>
        </p:nvPicPr>
        <p:blipFill>
          <a:blip r:embed="rId3"/>
          <a:srcRect l="17849" r="17849"/>
          <a:stretch/>
        </p:blipFill>
        <p:spPr>
          <a:xfrm>
            <a:off x="6309360" y="502920"/>
            <a:ext cx="5303520" cy="4617720"/>
          </a:xfrm>
          <a:prstGeom prst="rect">
            <a:avLst/>
          </a:prstGeom>
        </p:spPr>
      </p:pic>
      <p:sp>
        <p:nvSpPr>
          <p:cNvPr id="5" name="Text 2"/>
          <p:cNvSpPr/>
          <p:nvPr/>
        </p:nvSpPr>
        <p:spPr>
          <a:xfrm>
            <a:off x="658368" y="493776"/>
            <a:ext cx="731520" cy="640080"/>
          </a:xfrm>
          <a:prstGeom prst="rect">
            <a:avLst/>
          </a:prstGeom>
          <a:noFill/>
          <a:ln/>
        </p:spPr>
        <p:txBody>
          <a:bodyPr wrap="square" lIns="0" tIns="0" rIns="0" bIns="0" rtlCol="0" anchor="ctr"/>
          <a:lstStyle/>
          <a:p>
            <a:pPr marL="0" indent="0">
              <a:buNone/>
            </a:pPr>
            <a:r>
              <a:rPr lang="en-US" sz="3600" dirty="0">
                <a:solidFill>
                  <a:srgbClr val="78B255"/>
                </a:solidFill>
              </a:rPr>
              <a:t>♞</a:t>
            </a:r>
            <a:endParaRPr lang="en-US" sz="3600" dirty="0"/>
          </a:p>
        </p:txBody>
      </p:sp>
      <p:sp>
        <p:nvSpPr>
          <p:cNvPr id="6" name="Text 3"/>
          <p:cNvSpPr/>
          <p:nvPr/>
        </p:nvSpPr>
        <p:spPr>
          <a:xfrm>
            <a:off x="1417320" y="530352"/>
            <a:ext cx="4389120" cy="502920"/>
          </a:xfrm>
          <a:prstGeom prst="rect">
            <a:avLst/>
          </a:prstGeom>
          <a:noFill/>
          <a:ln/>
        </p:spPr>
        <p:txBody>
          <a:bodyPr wrap="square" lIns="0" tIns="0" rIns="0" bIns="0" rtlCol="0" anchor="ctr"/>
          <a:lstStyle/>
          <a:p>
            <a:pPr marL="0" indent="0">
              <a:buNone/>
            </a:pPr>
            <a:r>
              <a:rPr lang="en-US" sz="3400" b="1" dirty="0">
                <a:solidFill>
                  <a:srgbClr val="FFFFFF"/>
                </a:solidFill>
              </a:rPr>
              <a:t>Henry’s Chess Engine</a:t>
            </a:r>
            <a:endParaRPr lang="en-US" sz="3400" dirty="0"/>
          </a:p>
        </p:txBody>
      </p:sp>
      <p:sp>
        <p:nvSpPr>
          <p:cNvPr id="7" name="Text 4"/>
          <p:cNvSpPr/>
          <p:nvPr/>
        </p:nvSpPr>
        <p:spPr>
          <a:xfrm>
            <a:off x="1444752" y="1115568"/>
            <a:ext cx="4206240" cy="256032"/>
          </a:xfrm>
          <a:prstGeom prst="rect">
            <a:avLst/>
          </a:prstGeom>
          <a:noFill/>
          <a:ln/>
        </p:spPr>
        <p:txBody>
          <a:bodyPr wrap="square" lIns="0" tIns="0" rIns="0" bIns="0" rtlCol="0" anchor="ctr"/>
          <a:lstStyle/>
          <a:p>
            <a:pPr marL="0" indent="0">
              <a:buNone/>
            </a:pPr>
            <a:r>
              <a:rPr lang="en-US" sz="1350" dirty="0">
                <a:solidFill>
                  <a:srgbClr val="F4A025"/>
                </a:solidFill>
              </a:rPr>
              <a:t>Major Project Client Handover</a:t>
            </a:r>
            <a:endParaRPr lang="en-US" sz="1350" dirty="0"/>
          </a:p>
        </p:txBody>
      </p:sp>
      <p:sp>
        <p:nvSpPr>
          <p:cNvPr id="8" name="Text 5"/>
          <p:cNvSpPr/>
          <p:nvPr/>
        </p:nvSpPr>
        <p:spPr>
          <a:xfrm>
            <a:off x="749808" y="1810512"/>
            <a:ext cx="5074920" cy="1005840"/>
          </a:xfrm>
          <a:prstGeom prst="rect">
            <a:avLst/>
          </a:prstGeom>
          <a:noFill/>
          <a:ln/>
        </p:spPr>
        <p:txBody>
          <a:bodyPr wrap="square" lIns="0" tIns="0" rIns="0" bIns="0" rtlCol="0" anchor="ctr">
            <a:normAutofit/>
          </a:bodyPr>
          <a:lstStyle/>
          <a:p>
            <a:pPr marL="0" indent="0">
              <a:buNone/>
            </a:pPr>
            <a:r>
              <a:rPr lang="en-US" sz="1850" b="1" dirty="0">
                <a:solidFill>
                  <a:srgbClr val="F4EFE3"/>
                </a:solidFill>
              </a:rPr>
              <a:t>Advanced Python/Pygame desktop chess app with rated bots, puzzles, premove support, Stockfish-powered game review, graphical annotations, themes and executable deployment.</a:t>
            </a:r>
            <a:endParaRPr lang="en-US" sz="1850" dirty="0"/>
          </a:p>
        </p:txBody>
      </p:sp>
      <p:sp>
        <p:nvSpPr>
          <p:cNvPr id="9" name="Shape 6"/>
          <p:cNvSpPr/>
          <p:nvPr/>
        </p:nvSpPr>
        <p:spPr>
          <a:xfrm>
            <a:off x="749808" y="3246120"/>
            <a:ext cx="1325880" cy="749808"/>
          </a:xfrm>
          <a:prstGeom prst="roundRect">
            <a:avLst>
              <a:gd name="adj" fmla="val 9756"/>
            </a:avLst>
          </a:prstGeom>
          <a:solidFill>
            <a:srgbClr val="182019"/>
          </a:solidFill>
          <a:ln w="8890">
            <a:solidFill>
              <a:srgbClr val="F4A025">
                <a:alpha val="85000"/>
              </a:srgbClr>
            </a:solidFill>
            <a:prstDash val="solid"/>
          </a:ln>
        </p:spPr>
        <p:txBody>
          <a:bodyPr/>
          <a:lstStyle/>
          <a:p>
            <a:endParaRPr lang="en-AU"/>
          </a:p>
        </p:txBody>
      </p:sp>
      <p:sp>
        <p:nvSpPr>
          <p:cNvPr id="10" name="Text 7"/>
          <p:cNvSpPr/>
          <p:nvPr/>
        </p:nvSpPr>
        <p:spPr>
          <a:xfrm>
            <a:off x="886968" y="3355848"/>
            <a:ext cx="1051560" cy="292608"/>
          </a:xfrm>
          <a:prstGeom prst="rect">
            <a:avLst/>
          </a:prstGeom>
          <a:noFill/>
          <a:ln/>
        </p:spPr>
        <p:txBody>
          <a:bodyPr wrap="square" lIns="0" tIns="0" rIns="0" bIns="0" rtlCol="0" anchor="ctr"/>
          <a:lstStyle/>
          <a:p>
            <a:pPr marL="0" indent="0" algn="ctr">
              <a:buNone/>
            </a:pPr>
            <a:r>
              <a:rPr lang="en-US" sz="1900" b="1" dirty="0">
                <a:solidFill>
                  <a:srgbClr val="F4A025"/>
                </a:solidFill>
              </a:rPr>
              <a:t>53+</a:t>
            </a:r>
            <a:endParaRPr lang="en-US" sz="1900" dirty="0"/>
          </a:p>
        </p:txBody>
      </p:sp>
      <p:sp>
        <p:nvSpPr>
          <p:cNvPr id="11" name="Text 8"/>
          <p:cNvSpPr/>
          <p:nvPr/>
        </p:nvSpPr>
        <p:spPr>
          <a:xfrm>
            <a:off x="859536" y="3694176"/>
            <a:ext cx="1106424" cy="173736"/>
          </a:xfrm>
          <a:prstGeom prst="rect">
            <a:avLst/>
          </a:prstGeom>
          <a:noFill/>
          <a:ln/>
        </p:spPr>
        <p:txBody>
          <a:bodyPr wrap="square" lIns="0" tIns="0" rIns="0" bIns="0" rtlCol="0" anchor="ctr"/>
          <a:lstStyle/>
          <a:p>
            <a:pPr marL="0" indent="0" algn="ctr">
              <a:buNone/>
            </a:pPr>
            <a:r>
              <a:rPr lang="en-US" sz="680" dirty="0">
                <a:solidFill>
                  <a:srgbClr val="B7B2A8"/>
                </a:solidFill>
              </a:rPr>
              <a:t>GitHub commits</a:t>
            </a:r>
            <a:endParaRPr lang="en-US" sz="680" dirty="0"/>
          </a:p>
        </p:txBody>
      </p:sp>
      <p:sp>
        <p:nvSpPr>
          <p:cNvPr id="12" name="Shape 9"/>
          <p:cNvSpPr/>
          <p:nvPr/>
        </p:nvSpPr>
        <p:spPr>
          <a:xfrm>
            <a:off x="2240280" y="3246120"/>
            <a:ext cx="1325880" cy="749808"/>
          </a:xfrm>
          <a:prstGeom prst="roundRect">
            <a:avLst>
              <a:gd name="adj" fmla="val 9756"/>
            </a:avLst>
          </a:prstGeom>
          <a:solidFill>
            <a:srgbClr val="182019"/>
          </a:solidFill>
          <a:ln w="8890">
            <a:solidFill>
              <a:srgbClr val="78B255">
                <a:alpha val="85000"/>
              </a:srgbClr>
            </a:solidFill>
            <a:prstDash val="solid"/>
          </a:ln>
        </p:spPr>
        <p:txBody>
          <a:bodyPr/>
          <a:lstStyle/>
          <a:p>
            <a:endParaRPr lang="en-AU"/>
          </a:p>
        </p:txBody>
      </p:sp>
      <p:sp>
        <p:nvSpPr>
          <p:cNvPr id="13" name="Text 10"/>
          <p:cNvSpPr/>
          <p:nvPr/>
        </p:nvSpPr>
        <p:spPr>
          <a:xfrm>
            <a:off x="2377440" y="3355848"/>
            <a:ext cx="1051560" cy="292608"/>
          </a:xfrm>
          <a:prstGeom prst="rect">
            <a:avLst/>
          </a:prstGeom>
          <a:noFill/>
          <a:ln/>
        </p:spPr>
        <p:txBody>
          <a:bodyPr wrap="square" lIns="0" tIns="0" rIns="0" bIns="0" rtlCol="0" anchor="ctr"/>
          <a:lstStyle/>
          <a:p>
            <a:pPr marL="0" indent="0" algn="ctr">
              <a:buNone/>
            </a:pPr>
            <a:r>
              <a:rPr lang="en-US" sz="1900" b="1" dirty="0">
                <a:solidFill>
                  <a:srgbClr val="78B255"/>
                </a:solidFill>
              </a:rPr>
              <a:t>12</a:t>
            </a:r>
            <a:endParaRPr lang="en-US" sz="1900" dirty="0"/>
          </a:p>
        </p:txBody>
      </p:sp>
      <p:sp>
        <p:nvSpPr>
          <p:cNvPr id="14" name="Text 11"/>
          <p:cNvSpPr/>
          <p:nvPr/>
        </p:nvSpPr>
        <p:spPr>
          <a:xfrm>
            <a:off x="2350008" y="3694176"/>
            <a:ext cx="1106424" cy="173736"/>
          </a:xfrm>
          <a:prstGeom prst="rect">
            <a:avLst/>
          </a:prstGeom>
          <a:noFill/>
          <a:ln/>
        </p:spPr>
        <p:txBody>
          <a:bodyPr wrap="square" lIns="0" tIns="0" rIns="0" bIns="0" rtlCol="0" anchor="ctr"/>
          <a:lstStyle/>
          <a:p>
            <a:pPr marL="0" indent="0" algn="ctr">
              <a:buNone/>
            </a:pPr>
            <a:r>
              <a:rPr lang="en-US" sz="680" dirty="0">
                <a:solidFill>
                  <a:srgbClr val="B7B2A8"/>
                </a:solidFill>
              </a:rPr>
              <a:t>automated tests</a:t>
            </a:r>
            <a:endParaRPr lang="en-US" sz="680" dirty="0"/>
          </a:p>
        </p:txBody>
      </p:sp>
      <p:sp>
        <p:nvSpPr>
          <p:cNvPr id="15" name="Shape 12"/>
          <p:cNvSpPr/>
          <p:nvPr/>
        </p:nvSpPr>
        <p:spPr>
          <a:xfrm>
            <a:off x="3730752" y="3246120"/>
            <a:ext cx="1325880" cy="749808"/>
          </a:xfrm>
          <a:prstGeom prst="roundRect">
            <a:avLst>
              <a:gd name="adj" fmla="val 9756"/>
            </a:avLst>
          </a:prstGeom>
          <a:solidFill>
            <a:srgbClr val="182019"/>
          </a:solidFill>
          <a:ln w="8890">
            <a:solidFill>
              <a:srgbClr val="9E68FF">
                <a:alpha val="85000"/>
              </a:srgbClr>
            </a:solidFill>
            <a:prstDash val="solid"/>
          </a:ln>
        </p:spPr>
        <p:txBody>
          <a:bodyPr/>
          <a:lstStyle/>
          <a:p>
            <a:endParaRPr lang="en-AU"/>
          </a:p>
        </p:txBody>
      </p:sp>
      <p:sp>
        <p:nvSpPr>
          <p:cNvPr id="16" name="Text 13"/>
          <p:cNvSpPr/>
          <p:nvPr/>
        </p:nvSpPr>
        <p:spPr>
          <a:xfrm>
            <a:off x="3867912" y="3355848"/>
            <a:ext cx="1051560" cy="292608"/>
          </a:xfrm>
          <a:prstGeom prst="rect">
            <a:avLst/>
          </a:prstGeom>
          <a:noFill/>
          <a:ln/>
        </p:spPr>
        <p:txBody>
          <a:bodyPr wrap="square" lIns="0" tIns="0" rIns="0" bIns="0" rtlCol="0" anchor="ctr"/>
          <a:lstStyle/>
          <a:p>
            <a:pPr marL="0" indent="0" algn="ctr">
              <a:buNone/>
            </a:pPr>
            <a:r>
              <a:rPr lang="en-US" sz="1900" b="1" dirty="0">
                <a:solidFill>
                  <a:srgbClr val="9E68FF"/>
                </a:solidFill>
              </a:rPr>
              <a:t>2600</a:t>
            </a:r>
            <a:endParaRPr lang="en-US" sz="1900" dirty="0"/>
          </a:p>
        </p:txBody>
      </p:sp>
      <p:sp>
        <p:nvSpPr>
          <p:cNvPr id="17" name="Text 14"/>
          <p:cNvSpPr/>
          <p:nvPr/>
        </p:nvSpPr>
        <p:spPr>
          <a:xfrm>
            <a:off x="3840480" y="3694176"/>
            <a:ext cx="1106424" cy="173736"/>
          </a:xfrm>
          <a:prstGeom prst="rect">
            <a:avLst/>
          </a:prstGeom>
          <a:noFill/>
          <a:ln/>
        </p:spPr>
        <p:txBody>
          <a:bodyPr wrap="square" lIns="0" tIns="0" rIns="0" bIns="0" rtlCol="0" anchor="ctr"/>
          <a:lstStyle/>
          <a:p>
            <a:pPr marL="0" indent="0" algn="ctr">
              <a:buNone/>
            </a:pPr>
            <a:r>
              <a:rPr lang="en-US" sz="680" dirty="0">
                <a:solidFill>
                  <a:srgbClr val="B7B2A8"/>
                </a:solidFill>
              </a:rPr>
              <a:t>top bot rating</a:t>
            </a:r>
            <a:endParaRPr lang="en-US" sz="680" dirty="0"/>
          </a:p>
        </p:txBody>
      </p:sp>
      <p:sp>
        <p:nvSpPr>
          <p:cNvPr id="18" name="Text 15"/>
          <p:cNvSpPr/>
          <p:nvPr/>
        </p:nvSpPr>
        <p:spPr>
          <a:xfrm>
            <a:off x="749808" y="4617720"/>
            <a:ext cx="4389120" cy="228600"/>
          </a:xfrm>
          <a:prstGeom prst="rect">
            <a:avLst/>
          </a:prstGeom>
          <a:noFill/>
          <a:ln/>
        </p:spPr>
        <p:txBody>
          <a:bodyPr wrap="square" lIns="0" tIns="0" rIns="0" bIns="0" rtlCol="0" anchor="ctr"/>
          <a:lstStyle/>
          <a:p>
            <a:pPr marL="0" indent="0">
              <a:buNone/>
            </a:pPr>
            <a:r>
              <a:rPr lang="en-US" sz="1050" b="1" dirty="0">
                <a:solidFill>
                  <a:srgbClr val="F4A025"/>
                </a:solidFill>
              </a:rPr>
              <a:t>Copyright &amp; source acknowledgement</a:t>
            </a:r>
            <a:endParaRPr lang="en-US" sz="1050" dirty="0"/>
          </a:p>
        </p:txBody>
      </p:sp>
      <p:sp>
        <p:nvSpPr>
          <p:cNvPr id="19" name="Text 16"/>
          <p:cNvSpPr/>
          <p:nvPr/>
        </p:nvSpPr>
        <p:spPr>
          <a:xfrm>
            <a:off x="749808" y="4901184"/>
            <a:ext cx="5349240" cy="704088"/>
          </a:xfrm>
          <a:prstGeom prst="rect">
            <a:avLst/>
          </a:prstGeom>
          <a:noFill/>
          <a:ln/>
        </p:spPr>
        <p:txBody>
          <a:bodyPr wrap="square" lIns="0" tIns="0" rIns="0" bIns="0" rtlCol="0" anchor="ctr">
            <a:normAutofit/>
          </a:bodyPr>
          <a:lstStyle/>
          <a:p>
            <a:pPr marL="0" indent="0">
              <a:buNone/>
            </a:pPr>
            <a:r>
              <a:rPr lang="en-US" sz="830" dirty="0">
                <a:solidFill>
                  <a:srgbClr val="B7B2A8"/>
                </a:solidFill>
              </a:rPr>
              <a:t>Initial chess-engine learning foundation acknowledged from Eddie Sharick’s “Chess Engine in Python” YouTube series. Final solution has been extended with original UI, rated bots, Stockfish review, puzzles, premove, annotations, deployment support, testing and documentation. Stockfish is acknowledged as third-party open-source UCI software.</a:t>
            </a:r>
            <a:endParaRPr lang="en-US" sz="830" dirty="0"/>
          </a:p>
        </p:txBody>
      </p:sp>
      <p:sp>
        <p:nvSpPr>
          <p:cNvPr id="20" name="Text 17"/>
          <p:cNvSpPr/>
          <p:nvPr/>
        </p:nvSpPr>
        <p:spPr>
          <a:xfrm>
            <a:off x="749808" y="5961888"/>
            <a:ext cx="4754880" cy="228600"/>
          </a:xfrm>
          <a:prstGeom prst="rect">
            <a:avLst/>
          </a:prstGeom>
          <a:noFill/>
          <a:ln/>
        </p:spPr>
        <p:txBody>
          <a:bodyPr wrap="square" lIns="0" tIns="0" rIns="0" bIns="0" rtlCol="0" anchor="ctr"/>
          <a:lstStyle/>
          <a:p>
            <a:pPr marL="0" indent="0">
              <a:buNone/>
            </a:pPr>
            <a:r>
              <a:rPr lang="en-US" sz="1020" b="1" dirty="0">
                <a:solidFill>
                  <a:srgbClr val="4FC3F7"/>
                </a:solidFill>
              </a:rPr>
              <a:t>GitHub: HenryPham3023 / Henry-Pham-Chess</a:t>
            </a:r>
            <a:endParaRPr lang="en-US" sz="1020" dirty="0"/>
          </a:p>
        </p:txBody>
      </p:sp>
      <p:sp>
        <p:nvSpPr>
          <p:cNvPr id="21" name="Text 18"/>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Slide 1 • Title, source acknowledgement and project identity</a:t>
            </a:r>
            <a:endParaRPr lang="en-US" sz="6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Problem Statement &amp; User Need</a:t>
            </a:r>
            <a:endParaRPr lang="en-US" sz="2350" dirty="0"/>
          </a:p>
        </p:txBody>
      </p:sp>
      <p:sp>
        <p:nvSpPr>
          <p:cNvPr id="4" name="Shape 2"/>
          <p:cNvSpPr/>
          <p:nvPr/>
        </p:nvSpPr>
        <p:spPr>
          <a:xfrm>
            <a:off x="6364224" y="923544"/>
            <a:ext cx="5148072" cy="4233672"/>
          </a:xfrm>
          <a:prstGeom prst="roundRect">
            <a:avLst>
              <a:gd name="adj" fmla="val 1728"/>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37).png"/>
          <p:cNvPicPr>
            <a:picLocks noChangeAspect="1"/>
          </p:cNvPicPr>
          <p:nvPr/>
        </p:nvPicPr>
        <p:blipFill>
          <a:blip r:embed="rId3"/>
          <a:srcRect l="14442" r="14442"/>
          <a:stretch/>
        </p:blipFill>
        <p:spPr>
          <a:xfrm>
            <a:off x="6400800" y="960120"/>
            <a:ext cx="5074920" cy="4160520"/>
          </a:xfrm>
          <a:prstGeom prst="rect">
            <a:avLst/>
          </a:prstGeom>
        </p:spPr>
      </p:pic>
      <p:sp>
        <p:nvSpPr>
          <p:cNvPr id="6" name="Text 3"/>
          <p:cNvSpPr/>
          <p:nvPr/>
        </p:nvSpPr>
        <p:spPr>
          <a:xfrm>
            <a:off x="713232" y="1170432"/>
            <a:ext cx="1828800" cy="320040"/>
          </a:xfrm>
          <a:prstGeom prst="rect">
            <a:avLst/>
          </a:prstGeom>
          <a:noFill/>
          <a:ln/>
        </p:spPr>
        <p:txBody>
          <a:bodyPr wrap="square" lIns="0" tIns="0" rIns="0" bIns="0" rtlCol="0" anchor="ctr"/>
          <a:lstStyle/>
          <a:p>
            <a:pPr marL="0" indent="0">
              <a:buNone/>
            </a:pPr>
            <a:r>
              <a:rPr lang="en-US" sz="1800" b="1" dirty="0">
                <a:solidFill>
                  <a:srgbClr val="F4A025"/>
                </a:solidFill>
              </a:rPr>
              <a:t>Problem</a:t>
            </a:r>
            <a:endParaRPr lang="en-US" sz="1800" dirty="0"/>
          </a:p>
        </p:txBody>
      </p:sp>
      <p:sp>
        <p:nvSpPr>
          <p:cNvPr id="7" name="Text 4"/>
          <p:cNvSpPr/>
          <p:nvPr/>
        </p:nvSpPr>
        <p:spPr>
          <a:xfrm>
            <a:off x="749808" y="1600200"/>
            <a:ext cx="5212080" cy="1060704"/>
          </a:xfrm>
          <a:prstGeom prst="rect">
            <a:avLst/>
          </a:prstGeom>
          <a:noFill/>
          <a:ln/>
        </p:spPr>
        <p:txBody>
          <a:bodyPr wrap="square" lIns="0" tIns="0" rIns="0" bIns="0" rtlCol="0" anchor="ctr">
            <a:normAutofit/>
          </a:bodyPr>
          <a:lstStyle/>
          <a:p>
            <a:pPr marL="0" indent="0">
              <a:buNone/>
            </a:pPr>
            <a:r>
              <a:rPr lang="en-US" sz="1500" dirty="0">
                <a:solidFill>
                  <a:srgbClr val="F4EFE3"/>
                </a:solidFill>
              </a:rPr>
              <a:t>Many beginner chess apps either teach rules without realistic gameplay or provide engine analysis without explaining it clearly. The opportunity was to build an offline desktop app that combines playing, training and review in one place.</a:t>
            </a:r>
            <a:endParaRPr lang="en-US" sz="1500" dirty="0"/>
          </a:p>
        </p:txBody>
      </p:sp>
      <p:sp>
        <p:nvSpPr>
          <p:cNvPr id="8" name="Shape 5"/>
          <p:cNvSpPr/>
          <p:nvPr/>
        </p:nvSpPr>
        <p:spPr>
          <a:xfrm>
            <a:off x="749808" y="3063240"/>
            <a:ext cx="1417320" cy="777240"/>
          </a:xfrm>
          <a:prstGeom prst="roundRect">
            <a:avLst>
              <a:gd name="adj" fmla="val 9412"/>
            </a:avLst>
          </a:prstGeom>
          <a:solidFill>
            <a:srgbClr val="172018"/>
          </a:solidFill>
          <a:ln w="8890">
            <a:solidFill>
              <a:srgbClr val="78B255">
                <a:alpha val="82000"/>
              </a:srgbClr>
            </a:solidFill>
            <a:prstDash val="solid"/>
          </a:ln>
        </p:spPr>
        <p:txBody>
          <a:bodyPr/>
          <a:lstStyle/>
          <a:p>
            <a:endParaRPr lang="en-AU"/>
          </a:p>
        </p:txBody>
      </p:sp>
      <p:sp>
        <p:nvSpPr>
          <p:cNvPr id="9" name="Text 6"/>
          <p:cNvSpPr/>
          <p:nvPr/>
        </p:nvSpPr>
        <p:spPr>
          <a:xfrm>
            <a:off x="886968" y="3191256"/>
            <a:ext cx="1143000" cy="228600"/>
          </a:xfrm>
          <a:prstGeom prst="rect">
            <a:avLst/>
          </a:prstGeom>
          <a:noFill/>
          <a:ln/>
        </p:spPr>
        <p:txBody>
          <a:bodyPr wrap="square" lIns="0" tIns="0" rIns="0" bIns="0" rtlCol="0" anchor="ctr"/>
          <a:lstStyle/>
          <a:p>
            <a:pPr marL="0" indent="0">
              <a:buNone/>
            </a:pPr>
            <a:r>
              <a:rPr lang="en-US" sz="1150" b="1" dirty="0">
                <a:solidFill>
                  <a:srgbClr val="78B255"/>
                </a:solidFill>
              </a:rPr>
              <a:t>Users</a:t>
            </a:r>
            <a:endParaRPr lang="en-US" sz="1150" dirty="0"/>
          </a:p>
        </p:txBody>
      </p:sp>
      <p:sp>
        <p:nvSpPr>
          <p:cNvPr id="10" name="Text 7"/>
          <p:cNvSpPr/>
          <p:nvPr/>
        </p:nvSpPr>
        <p:spPr>
          <a:xfrm>
            <a:off x="886968" y="3474720"/>
            <a:ext cx="1143000" cy="2743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Students, casual players, classmates and teachers.</a:t>
            </a:r>
            <a:endParaRPr lang="en-US" sz="820" dirty="0"/>
          </a:p>
        </p:txBody>
      </p:sp>
      <p:sp>
        <p:nvSpPr>
          <p:cNvPr id="11" name="Shape 8"/>
          <p:cNvSpPr/>
          <p:nvPr/>
        </p:nvSpPr>
        <p:spPr>
          <a:xfrm>
            <a:off x="2350008" y="3063240"/>
            <a:ext cx="1417320" cy="777240"/>
          </a:xfrm>
          <a:prstGeom prst="roundRect">
            <a:avLst>
              <a:gd name="adj" fmla="val 9412"/>
            </a:avLst>
          </a:prstGeom>
          <a:solidFill>
            <a:srgbClr val="172018"/>
          </a:solidFill>
          <a:ln w="8890">
            <a:solidFill>
              <a:srgbClr val="4FC3F7">
                <a:alpha val="82000"/>
              </a:srgbClr>
            </a:solidFill>
            <a:prstDash val="solid"/>
          </a:ln>
        </p:spPr>
        <p:txBody>
          <a:bodyPr/>
          <a:lstStyle/>
          <a:p>
            <a:endParaRPr lang="en-AU"/>
          </a:p>
        </p:txBody>
      </p:sp>
      <p:sp>
        <p:nvSpPr>
          <p:cNvPr id="12" name="Text 9"/>
          <p:cNvSpPr/>
          <p:nvPr/>
        </p:nvSpPr>
        <p:spPr>
          <a:xfrm>
            <a:off x="2487168" y="3191256"/>
            <a:ext cx="1143000" cy="228600"/>
          </a:xfrm>
          <a:prstGeom prst="rect">
            <a:avLst/>
          </a:prstGeom>
          <a:noFill/>
          <a:ln/>
        </p:spPr>
        <p:txBody>
          <a:bodyPr wrap="square" lIns="0" tIns="0" rIns="0" bIns="0" rtlCol="0" anchor="ctr"/>
          <a:lstStyle/>
          <a:p>
            <a:pPr marL="0" indent="0">
              <a:buNone/>
            </a:pPr>
            <a:r>
              <a:rPr lang="en-US" sz="1150" b="1" dirty="0">
                <a:solidFill>
                  <a:srgbClr val="4FC3F7"/>
                </a:solidFill>
              </a:rPr>
              <a:t>Need</a:t>
            </a:r>
            <a:endParaRPr lang="en-US" sz="1150" dirty="0"/>
          </a:p>
        </p:txBody>
      </p:sp>
      <p:sp>
        <p:nvSpPr>
          <p:cNvPr id="13" name="Text 10"/>
          <p:cNvSpPr/>
          <p:nvPr/>
        </p:nvSpPr>
        <p:spPr>
          <a:xfrm>
            <a:off x="2487168" y="3474720"/>
            <a:ext cx="1143000" cy="2743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Learn chess while playing against varied bot strengths.</a:t>
            </a:r>
            <a:endParaRPr lang="en-US" sz="820" dirty="0"/>
          </a:p>
        </p:txBody>
      </p:sp>
      <p:sp>
        <p:nvSpPr>
          <p:cNvPr id="14" name="Shape 11"/>
          <p:cNvSpPr/>
          <p:nvPr/>
        </p:nvSpPr>
        <p:spPr>
          <a:xfrm>
            <a:off x="3950208" y="3063240"/>
            <a:ext cx="1417320" cy="777240"/>
          </a:xfrm>
          <a:prstGeom prst="roundRect">
            <a:avLst>
              <a:gd name="adj" fmla="val 9412"/>
            </a:avLst>
          </a:prstGeom>
          <a:solidFill>
            <a:srgbClr val="172018"/>
          </a:solidFill>
          <a:ln w="8890">
            <a:solidFill>
              <a:srgbClr val="9E68FF">
                <a:alpha val="82000"/>
              </a:srgbClr>
            </a:solidFill>
            <a:prstDash val="solid"/>
          </a:ln>
        </p:spPr>
        <p:txBody>
          <a:bodyPr/>
          <a:lstStyle/>
          <a:p>
            <a:endParaRPr lang="en-AU"/>
          </a:p>
        </p:txBody>
      </p:sp>
      <p:sp>
        <p:nvSpPr>
          <p:cNvPr id="15" name="Text 12"/>
          <p:cNvSpPr/>
          <p:nvPr/>
        </p:nvSpPr>
        <p:spPr>
          <a:xfrm>
            <a:off x="4087368" y="3191256"/>
            <a:ext cx="1143000" cy="228600"/>
          </a:xfrm>
          <a:prstGeom prst="rect">
            <a:avLst/>
          </a:prstGeom>
          <a:noFill/>
          <a:ln/>
        </p:spPr>
        <p:txBody>
          <a:bodyPr wrap="square" lIns="0" tIns="0" rIns="0" bIns="0" rtlCol="0" anchor="ctr"/>
          <a:lstStyle/>
          <a:p>
            <a:pPr marL="0" indent="0">
              <a:buNone/>
            </a:pPr>
            <a:r>
              <a:rPr lang="en-US" sz="1150" b="1" dirty="0">
                <a:solidFill>
                  <a:srgbClr val="9E68FF"/>
                </a:solidFill>
              </a:rPr>
              <a:t>Benefit</a:t>
            </a:r>
            <a:endParaRPr lang="en-US" sz="1150" dirty="0"/>
          </a:p>
        </p:txBody>
      </p:sp>
      <p:sp>
        <p:nvSpPr>
          <p:cNvPr id="16" name="Text 13"/>
          <p:cNvSpPr/>
          <p:nvPr/>
        </p:nvSpPr>
        <p:spPr>
          <a:xfrm>
            <a:off x="4087368" y="3474720"/>
            <a:ext cx="1143000" cy="2743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Immediate feedback through puzzles, hints and Game Review.</a:t>
            </a:r>
            <a:endParaRPr lang="en-US" sz="820" dirty="0"/>
          </a:p>
        </p:txBody>
      </p:sp>
      <p:sp>
        <p:nvSpPr>
          <p:cNvPr id="17" name="Text 14"/>
          <p:cNvSpPr/>
          <p:nvPr/>
        </p:nvSpPr>
        <p:spPr>
          <a:xfrm>
            <a:off x="749808" y="4443984"/>
            <a:ext cx="1737360" cy="237744"/>
          </a:xfrm>
          <a:prstGeom prst="rect">
            <a:avLst/>
          </a:prstGeom>
          <a:noFill/>
          <a:ln/>
        </p:spPr>
        <p:txBody>
          <a:bodyPr wrap="square" lIns="0" tIns="0" rIns="0" bIns="0" rtlCol="0" anchor="ctr"/>
          <a:lstStyle/>
          <a:p>
            <a:pPr marL="0" indent="0">
              <a:buNone/>
            </a:pPr>
            <a:r>
              <a:rPr lang="en-US" sz="1200" b="1" dirty="0">
                <a:solidFill>
                  <a:srgbClr val="F4A025"/>
                </a:solidFill>
              </a:rPr>
              <a:t>Why chess?</a:t>
            </a:r>
            <a:endParaRPr lang="en-US" sz="1200" dirty="0"/>
          </a:p>
        </p:txBody>
      </p:sp>
      <p:sp>
        <p:nvSpPr>
          <p:cNvPr id="18" name="Text 15"/>
          <p:cNvSpPr/>
          <p:nvPr/>
        </p:nvSpPr>
        <p:spPr>
          <a:xfrm>
            <a:off x="886968" y="4782312"/>
            <a:ext cx="4937760" cy="841248"/>
          </a:xfrm>
          <a:prstGeom prst="rect">
            <a:avLst/>
          </a:prstGeom>
          <a:noFill/>
          <a:ln/>
        </p:spPr>
        <p:txBody>
          <a:bodyPr wrap="square" lIns="254" tIns="254" rIns="254" bIns="254" rtlCol="0" anchor="ctr">
            <a:normAutofit/>
          </a:bodyPr>
          <a:lstStyle/>
          <a:p>
            <a:r>
              <a:rPr lang="en-US" sz="1130" dirty="0">
                <a:solidFill>
                  <a:srgbClr val="F4EFE3"/>
                </a:solidFill>
              </a:rPr>
              <a:t>Rules-based system suited to software engineering</a:t>
            </a:r>
            <a:endParaRPr lang="en-US" sz="1130" dirty="0"/>
          </a:p>
          <a:p>
            <a:r>
              <a:rPr lang="en-US" sz="1130" dirty="0">
                <a:solidFill>
                  <a:srgbClr val="F4EFE3"/>
                </a:solidFill>
              </a:rPr>
              <a:t>Complex enough to demonstrate algorithms and edge cases</a:t>
            </a:r>
            <a:endParaRPr lang="en-US" sz="1130" dirty="0"/>
          </a:p>
          <a:p>
            <a:r>
              <a:rPr lang="en-US" sz="1130" dirty="0">
                <a:solidFill>
                  <a:srgbClr val="F4EFE3"/>
                </a:solidFill>
              </a:rPr>
              <a:t>Easy to demonstrate live to a simulated client</a:t>
            </a:r>
            <a:endParaRPr lang="en-US" sz="1130" dirty="0"/>
          </a:p>
        </p:txBody>
      </p:sp>
      <p:sp>
        <p:nvSpPr>
          <p:cNvPr id="19" name="Text 16"/>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Final Product Snapshot</a:t>
            </a:r>
            <a:endParaRPr lang="en-US" sz="2350" dirty="0"/>
          </a:p>
        </p:txBody>
      </p:sp>
      <p:sp>
        <p:nvSpPr>
          <p:cNvPr id="4" name="Shape 2"/>
          <p:cNvSpPr/>
          <p:nvPr/>
        </p:nvSpPr>
        <p:spPr>
          <a:xfrm>
            <a:off x="557784" y="1152144"/>
            <a:ext cx="5559552" cy="3776472"/>
          </a:xfrm>
          <a:prstGeom prst="roundRect">
            <a:avLst>
              <a:gd name="adj" fmla="val 1937"/>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36).png"/>
          <p:cNvPicPr>
            <a:picLocks noChangeAspect="1"/>
          </p:cNvPicPr>
          <p:nvPr/>
        </p:nvPicPr>
        <p:blipFill>
          <a:blip r:embed="rId3"/>
          <a:srcRect l="8528" r="8528"/>
          <a:stretch/>
        </p:blipFill>
        <p:spPr>
          <a:xfrm>
            <a:off x="594360" y="1188720"/>
            <a:ext cx="5486400" cy="3703320"/>
          </a:xfrm>
          <a:prstGeom prst="rect">
            <a:avLst/>
          </a:prstGeom>
        </p:spPr>
      </p:pic>
      <p:sp>
        <p:nvSpPr>
          <p:cNvPr id="6" name="Shape 3"/>
          <p:cNvSpPr/>
          <p:nvPr/>
        </p:nvSpPr>
        <p:spPr>
          <a:xfrm>
            <a:off x="6409944" y="1152144"/>
            <a:ext cx="5148072" cy="3776472"/>
          </a:xfrm>
          <a:prstGeom prst="roundRect">
            <a:avLst>
              <a:gd name="adj" fmla="val 1937"/>
            </a:avLst>
          </a:prstGeom>
          <a:solidFill>
            <a:srgbClr val="0B0F0C"/>
          </a:solidFill>
          <a:ln w="8890">
            <a:solidFill>
              <a:srgbClr val="2E402D">
                <a:alpha val="90000"/>
              </a:srgbClr>
            </a:solidFill>
            <a:prstDash val="solid"/>
          </a:ln>
        </p:spPr>
        <p:txBody>
          <a:bodyPr/>
          <a:lstStyle/>
          <a:p>
            <a:endParaRPr lang="en-AU"/>
          </a:p>
        </p:txBody>
      </p:sp>
      <p:pic>
        <p:nvPicPr>
          <p:cNvPr id="7" name="Image 1" descr="/mnt/data/image(241).png"/>
          <p:cNvPicPr>
            <a:picLocks noChangeAspect="1"/>
          </p:cNvPicPr>
          <p:nvPr/>
        </p:nvPicPr>
        <p:blipFill>
          <a:blip r:embed="rId4"/>
          <a:srcRect l="10821" r="10821"/>
          <a:stretch/>
        </p:blipFill>
        <p:spPr>
          <a:xfrm>
            <a:off x="6446520" y="1188720"/>
            <a:ext cx="5074920" cy="3703320"/>
          </a:xfrm>
          <a:prstGeom prst="rect">
            <a:avLst/>
          </a:prstGeom>
        </p:spPr>
      </p:pic>
      <p:sp>
        <p:nvSpPr>
          <p:cNvPr id="8" name="Text 4"/>
          <p:cNvSpPr/>
          <p:nvPr/>
        </p:nvSpPr>
        <p:spPr>
          <a:xfrm>
            <a:off x="658368" y="5285232"/>
            <a:ext cx="10515600" cy="347472"/>
          </a:xfrm>
          <a:prstGeom prst="rect">
            <a:avLst/>
          </a:prstGeom>
          <a:noFill/>
          <a:ln/>
        </p:spPr>
        <p:txBody>
          <a:bodyPr wrap="square" lIns="0" tIns="0" rIns="0" bIns="0" rtlCol="0" anchor="ctr"/>
          <a:lstStyle/>
          <a:p>
            <a:pPr marL="0" indent="0" algn="ctr">
              <a:buNone/>
            </a:pPr>
            <a:r>
              <a:rPr lang="en-US" sz="1650" b="1" dirty="0">
                <a:solidFill>
                  <a:srgbClr val="F4EFE3"/>
                </a:solidFill>
              </a:rPr>
              <a:t>A complete chess learning platform rather than only a board.</a:t>
            </a:r>
            <a:endParaRPr lang="en-US" sz="1650" dirty="0"/>
          </a:p>
        </p:txBody>
      </p:sp>
      <p:sp>
        <p:nvSpPr>
          <p:cNvPr id="9" name="Shape 5"/>
          <p:cNvSpPr/>
          <p:nvPr/>
        </p:nvSpPr>
        <p:spPr>
          <a:xfrm>
            <a:off x="841248" y="5824728"/>
            <a:ext cx="1463040" cy="256032"/>
          </a:xfrm>
          <a:prstGeom prst="roundRect">
            <a:avLst>
              <a:gd name="adj" fmla="val 17857"/>
            </a:avLst>
          </a:prstGeom>
          <a:solidFill>
            <a:srgbClr val="78B255">
              <a:alpha val="90000"/>
            </a:srgbClr>
          </a:solidFill>
          <a:ln w="12700">
            <a:solidFill>
              <a:srgbClr val="78B255">
                <a:alpha val="90000"/>
              </a:srgbClr>
            </a:solidFill>
            <a:prstDash val="solid"/>
          </a:ln>
        </p:spPr>
        <p:txBody>
          <a:bodyPr/>
          <a:lstStyle/>
          <a:p>
            <a:endParaRPr lang="en-AU"/>
          </a:p>
        </p:txBody>
      </p:sp>
      <p:sp>
        <p:nvSpPr>
          <p:cNvPr id="10" name="Text 6"/>
          <p:cNvSpPr/>
          <p:nvPr/>
        </p:nvSpPr>
        <p:spPr>
          <a:xfrm>
            <a:off x="914400" y="5888736"/>
            <a:ext cx="1316736" cy="109728"/>
          </a:xfrm>
          <a:prstGeom prst="rect">
            <a:avLst/>
          </a:prstGeom>
          <a:noFill/>
          <a:ln/>
        </p:spPr>
        <p:txBody>
          <a:bodyPr wrap="square" lIns="0" tIns="0" rIns="0" bIns="0" rtlCol="0" anchor="ctr"/>
          <a:lstStyle/>
          <a:p>
            <a:pPr marL="0" indent="0" algn="ctr">
              <a:buNone/>
            </a:pPr>
            <a:r>
              <a:rPr lang="en-US" sz="680" b="1" dirty="0">
                <a:solidFill>
                  <a:srgbClr val="FFFFFF"/>
                </a:solidFill>
              </a:rPr>
              <a:t>Local multiplayer</a:t>
            </a:r>
            <a:endParaRPr lang="en-US" sz="680" dirty="0"/>
          </a:p>
        </p:txBody>
      </p:sp>
      <p:sp>
        <p:nvSpPr>
          <p:cNvPr id="11" name="Shape 7"/>
          <p:cNvSpPr/>
          <p:nvPr/>
        </p:nvSpPr>
        <p:spPr>
          <a:xfrm>
            <a:off x="2468880" y="5824728"/>
            <a:ext cx="1188720" cy="256032"/>
          </a:xfrm>
          <a:prstGeom prst="roundRect">
            <a:avLst>
              <a:gd name="adj" fmla="val 17857"/>
            </a:avLst>
          </a:prstGeom>
          <a:solidFill>
            <a:srgbClr val="F4A025">
              <a:alpha val="90000"/>
            </a:srgbClr>
          </a:solidFill>
          <a:ln w="12700">
            <a:solidFill>
              <a:srgbClr val="F4A025">
                <a:alpha val="90000"/>
              </a:srgbClr>
            </a:solidFill>
            <a:prstDash val="solid"/>
          </a:ln>
        </p:spPr>
        <p:txBody>
          <a:bodyPr/>
          <a:lstStyle/>
          <a:p>
            <a:endParaRPr lang="en-AU"/>
          </a:p>
        </p:txBody>
      </p:sp>
      <p:sp>
        <p:nvSpPr>
          <p:cNvPr id="12" name="Text 8"/>
          <p:cNvSpPr/>
          <p:nvPr/>
        </p:nvSpPr>
        <p:spPr>
          <a:xfrm>
            <a:off x="2542032" y="5888736"/>
            <a:ext cx="1042416" cy="109728"/>
          </a:xfrm>
          <a:prstGeom prst="rect">
            <a:avLst/>
          </a:prstGeom>
          <a:noFill/>
          <a:ln/>
        </p:spPr>
        <p:txBody>
          <a:bodyPr wrap="square" lIns="0" tIns="0" rIns="0" bIns="0" rtlCol="0" anchor="ctr"/>
          <a:lstStyle/>
          <a:p>
            <a:pPr marL="0" indent="0" algn="ctr">
              <a:buNone/>
            </a:pPr>
            <a:r>
              <a:rPr lang="en-US" sz="680" b="1" dirty="0">
                <a:solidFill>
                  <a:srgbClr val="FFFFFF"/>
                </a:solidFill>
              </a:rPr>
              <a:t>Rated bots</a:t>
            </a:r>
            <a:endParaRPr lang="en-US" sz="680" dirty="0"/>
          </a:p>
        </p:txBody>
      </p:sp>
      <p:sp>
        <p:nvSpPr>
          <p:cNvPr id="13" name="Shape 9"/>
          <p:cNvSpPr/>
          <p:nvPr/>
        </p:nvSpPr>
        <p:spPr>
          <a:xfrm>
            <a:off x="3822192" y="5824728"/>
            <a:ext cx="1371600" cy="256032"/>
          </a:xfrm>
          <a:prstGeom prst="roundRect">
            <a:avLst>
              <a:gd name="adj" fmla="val 17857"/>
            </a:avLst>
          </a:prstGeom>
          <a:solidFill>
            <a:srgbClr val="9E68FF">
              <a:alpha val="90000"/>
            </a:srgbClr>
          </a:solidFill>
          <a:ln w="12700">
            <a:solidFill>
              <a:srgbClr val="9E68FF">
                <a:alpha val="90000"/>
              </a:srgbClr>
            </a:solidFill>
            <a:prstDash val="solid"/>
          </a:ln>
        </p:spPr>
        <p:txBody>
          <a:bodyPr/>
          <a:lstStyle/>
          <a:p>
            <a:endParaRPr lang="en-AU"/>
          </a:p>
        </p:txBody>
      </p:sp>
      <p:sp>
        <p:nvSpPr>
          <p:cNvPr id="14" name="Text 10"/>
          <p:cNvSpPr/>
          <p:nvPr/>
        </p:nvSpPr>
        <p:spPr>
          <a:xfrm>
            <a:off x="3895344" y="5888736"/>
            <a:ext cx="1225296" cy="109728"/>
          </a:xfrm>
          <a:prstGeom prst="rect">
            <a:avLst/>
          </a:prstGeom>
          <a:noFill/>
          <a:ln/>
        </p:spPr>
        <p:txBody>
          <a:bodyPr wrap="square" lIns="0" tIns="0" rIns="0" bIns="0" rtlCol="0" anchor="ctr"/>
          <a:lstStyle/>
          <a:p>
            <a:pPr marL="0" indent="0" algn="ctr">
              <a:buNone/>
            </a:pPr>
            <a:r>
              <a:rPr lang="en-US" sz="680" b="1" dirty="0">
                <a:solidFill>
                  <a:srgbClr val="FFFFFF"/>
                </a:solidFill>
              </a:rPr>
              <a:t>Puzzle training</a:t>
            </a:r>
            <a:endParaRPr lang="en-US" sz="680" dirty="0"/>
          </a:p>
        </p:txBody>
      </p:sp>
      <p:sp>
        <p:nvSpPr>
          <p:cNvPr id="15" name="Shape 11"/>
          <p:cNvSpPr/>
          <p:nvPr/>
        </p:nvSpPr>
        <p:spPr>
          <a:xfrm>
            <a:off x="5358384" y="5824728"/>
            <a:ext cx="1417320" cy="256032"/>
          </a:xfrm>
          <a:prstGeom prst="roundRect">
            <a:avLst>
              <a:gd name="adj" fmla="val 17857"/>
            </a:avLst>
          </a:prstGeom>
          <a:solidFill>
            <a:srgbClr val="4FC3F7">
              <a:alpha val="90000"/>
            </a:srgbClr>
          </a:solidFill>
          <a:ln w="12700">
            <a:solidFill>
              <a:srgbClr val="4FC3F7">
                <a:alpha val="90000"/>
              </a:srgbClr>
            </a:solidFill>
            <a:prstDash val="solid"/>
          </a:ln>
        </p:spPr>
        <p:txBody>
          <a:bodyPr/>
          <a:lstStyle/>
          <a:p>
            <a:endParaRPr lang="en-AU"/>
          </a:p>
        </p:txBody>
      </p:sp>
      <p:sp>
        <p:nvSpPr>
          <p:cNvPr id="16" name="Text 12"/>
          <p:cNvSpPr/>
          <p:nvPr/>
        </p:nvSpPr>
        <p:spPr>
          <a:xfrm>
            <a:off x="5431536" y="5888736"/>
            <a:ext cx="1271016" cy="109728"/>
          </a:xfrm>
          <a:prstGeom prst="rect">
            <a:avLst/>
          </a:prstGeom>
          <a:noFill/>
          <a:ln/>
        </p:spPr>
        <p:txBody>
          <a:bodyPr wrap="square" lIns="0" tIns="0" rIns="0" bIns="0" rtlCol="0" anchor="ctr"/>
          <a:lstStyle/>
          <a:p>
            <a:pPr marL="0" indent="0" algn="ctr">
              <a:buNone/>
            </a:pPr>
            <a:r>
              <a:rPr lang="en-US" sz="680" b="1" dirty="0">
                <a:solidFill>
                  <a:srgbClr val="FFFFFF"/>
                </a:solidFill>
              </a:rPr>
              <a:t>Stockfish review</a:t>
            </a:r>
            <a:endParaRPr lang="en-US" sz="680" dirty="0"/>
          </a:p>
        </p:txBody>
      </p:sp>
      <p:sp>
        <p:nvSpPr>
          <p:cNvPr id="17" name="Shape 13"/>
          <p:cNvSpPr/>
          <p:nvPr/>
        </p:nvSpPr>
        <p:spPr>
          <a:xfrm>
            <a:off x="6931152" y="5824728"/>
            <a:ext cx="1691640" cy="256032"/>
          </a:xfrm>
          <a:prstGeom prst="roundRect">
            <a:avLst>
              <a:gd name="adj" fmla="val 17857"/>
            </a:avLst>
          </a:prstGeom>
          <a:solidFill>
            <a:srgbClr val="5B8C43">
              <a:alpha val="90000"/>
            </a:srgbClr>
          </a:solidFill>
          <a:ln w="12700">
            <a:solidFill>
              <a:srgbClr val="5B8C43">
                <a:alpha val="90000"/>
              </a:srgbClr>
            </a:solidFill>
            <a:prstDash val="solid"/>
          </a:ln>
        </p:spPr>
        <p:txBody>
          <a:bodyPr/>
          <a:lstStyle/>
          <a:p>
            <a:endParaRPr lang="en-AU"/>
          </a:p>
        </p:txBody>
      </p:sp>
      <p:sp>
        <p:nvSpPr>
          <p:cNvPr id="18" name="Text 14"/>
          <p:cNvSpPr/>
          <p:nvPr/>
        </p:nvSpPr>
        <p:spPr>
          <a:xfrm>
            <a:off x="7004304" y="5888736"/>
            <a:ext cx="1545336" cy="109728"/>
          </a:xfrm>
          <a:prstGeom prst="rect">
            <a:avLst/>
          </a:prstGeom>
          <a:noFill/>
          <a:ln/>
        </p:spPr>
        <p:txBody>
          <a:bodyPr wrap="square" lIns="0" tIns="0" rIns="0" bIns="0" rtlCol="0" anchor="ctr"/>
          <a:lstStyle/>
          <a:p>
            <a:pPr marL="0" indent="0" algn="ctr">
              <a:buNone/>
            </a:pPr>
            <a:r>
              <a:rPr lang="en-US" sz="680" b="1" dirty="0">
                <a:solidFill>
                  <a:srgbClr val="FFFFFF"/>
                </a:solidFill>
              </a:rPr>
              <a:t>Premove + annotations</a:t>
            </a:r>
            <a:endParaRPr lang="en-US" sz="680" dirty="0"/>
          </a:p>
        </p:txBody>
      </p:sp>
      <p:sp>
        <p:nvSpPr>
          <p:cNvPr id="19" name="Shape 15"/>
          <p:cNvSpPr/>
          <p:nvPr/>
        </p:nvSpPr>
        <p:spPr>
          <a:xfrm>
            <a:off x="8796528" y="5824728"/>
            <a:ext cx="1508760" cy="256032"/>
          </a:xfrm>
          <a:prstGeom prst="roundRect">
            <a:avLst>
              <a:gd name="adj" fmla="val 17857"/>
            </a:avLst>
          </a:prstGeom>
          <a:solidFill>
            <a:srgbClr val="D98316">
              <a:alpha val="90000"/>
            </a:srgbClr>
          </a:solidFill>
          <a:ln w="12700">
            <a:solidFill>
              <a:srgbClr val="D98316">
                <a:alpha val="90000"/>
              </a:srgbClr>
            </a:solidFill>
            <a:prstDash val="solid"/>
          </a:ln>
        </p:spPr>
        <p:txBody>
          <a:bodyPr/>
          <a:lstStyle/>
          <a:p>
            <a:endParaRPr lang="en-AU"/>
          </a:p>
        </p:txBody>
      </p:sp>
      <p:sp>
        <p:nvSpPr>
          <p:cNvPr id="20" name="Text 16"/>
          <p:cNvSpPr/>
          <p:nvPr/>
        </p:nvSpPr>
        <p:spPr>
          <a:xfrm>
            <a:off x="8869680" y="5888736"/>
            <a:ext cx="1362456" cy="109728"/>
          </a:xfrm>
          <a:prstGeom prst="rect">
            <a:avLst/>
          </a:prstGeom>
          <a:noFill/>
          <a:ln/>
        </p:spPr>
        <p:txBody>
          <a:bodyPr wrap="square" lIns="0" tIns="0" rIns="0" bIns="0" rtlCol="0" anchor="ctr"/>
          <a:lstStyle/>
          <a:p>
            <a:pPr marL="0" indent="0" algn="ctr">
              <a:buNone/>
            </a:pPr>
            <a:r>
              <a:rPr lang="en-US" sz="680" b="1" dirty="0">
                <a:solidFill>
                  <a:srgbClr val="FFFFFF"/>
                </a:solidFill>
              </a:rPr>
              <a:t>Executable build</a:t>
            </a:r>
            <a:endParaRPr lang="en-US" sz="680" dirty="0"/>
          </a:p>
        </p:txBody>
      </p:sp>
      <p:sp>
        <p:nvSpPr>
          <p:cNvPr id="21" name="Text 17"/>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Methodology &amp; Project Management</a:t>
            </a:r>
            <a:endParaRPr lang="en-US" sz="2350" dirty="0"/>
          </a:p>
        </p:txBody>
      </p:sp>
      <p:sp>
        <p:nvSpPr>
          <p:cNvPr id="4" name="Text 2"/>
          <p:cNvSpPr/>
          <p:nvPr/>
        </p:nvSpPr>
        <p:spPr>
          <a:xfrm>
            <a:off x="749808" y="1143000"/>
            <a:ext cx="3291840" cy="347472"/>
          </a:xfrm>
          <a:prstGeom prst="rect">
            <a:avLst/>
          </a:prstGeom>
          <a:noFill/>
          <a:ln/>
        </p:spPr>
        <p:txBody>
          <a:bodyPr wrap="square" lIns="0" tIns="0" rIns="0" bIns="0" rtlCol="0" anchor="ctr"/>
          <a:lstStyle/>
          <a:p>
            <a:pPr marL="0" indent="0">
              <a:buNone/>
            </a:pPr>
            <a:r>
              <a:rPr lang="en-US" sz="2000" b="1" dirty="0">
                <a:solidFill>
                  <a:srgbClr val="F4A025"/>
                </a:solidFill>
              </a:rPr>
              <a:t>WAgile approach</a:t>
            </a:r>
            <a:endParaRPr lang="en-US" sz="2000" dirty="0"/>
          </a:p>
        </p:txBody>
      </p:sp>
      <p:sp>
        <p:nvSpPr>
          <p:cNvPr id="5" name="Text 3"/>
          <p:cNvSpPr/>
          <p:nvPr/>
        </p:nvSpPr>
        <p:spPr>
          <a:xfrm>
            <a:off x="768096" y="1627632"/>
            <a:ext cx="4937760" cy="676656"/>
          </a:xfrm>
          <a:prstGeom prst="rect">
            <a:avLst/>
          </a:prstGeom>
          <a:noFill/>
          <a:ln/>
        </p:spPr>
        <p:txBody>
          <a:bodyPr wrap="square" lIns="0" tIns="0" rIns="0" bIns="0" rtlCol="0" anchor="ctr">
            <a:normAutofit/>
          </a:bodyPr>
          <a:lstStyle/>
          <a:p>
            <a:pPr marL="0" indent="0">
              <a:buNone/>
            </a:pPr>
            <a:r>
              <a:rPr lang="en-US" sz="1420" dirty="0">
                <a:solidFill>
                  <a:srgbClr val="F4EFE3"/>
                </a:solidFill>
              </a:rPr>
              <a:t>The project used a hybrid method: Waterfall-style planning for requirements and diagrams, then Agile sprint cycles for build-test-refine improvements.</a:t>
            </a:r>
            <a:endParaRPr lang="en-US" sz="1420" dirty="0"/>
          </a:p>
        </p:txBody>
      </p:sp>
      <p:sp>
        <p:nvSpPr>
          <p:cNvPr id="6" name="Shape 4"/>
          <p:cNvSpPr/>
          <p:nvPr/>
        </p:nvSpPr>
        <p:spPr>
          <a:xfrm>
            <a:off x="749808" y="2898648"/>
            <a:ext cx="1700784" cy="914400"/>
          </a:xfrm>
          <a:prstGeom prst="roundRect">
            <a:avLst>
              <a:gd name="adj" fmla="val 8000"/>
            </a:avLst>
          </a:prstGeom>
          <a:solidFill>
            <a:srgbClr val="172018"/>
          </a:solidFill>
          <a:ln w="8890">
            <a:solidFill>
              <a:srgbClr val="F4A025">
                <a:alpha val="82000"/>
              </a:srgbClr>
            </a:solidFill>
            <a:prstDash val="solid"/>
          </a:ln>
        </p:spPr>
        <p:txBody>
          <a:bodyPr/>
          <a:lstStyle/>
          <a:p>
            <a:endParaRPr lang="en-AU"/>
          </a:p>
        </p:txBody>
      </p:sp>
      <p:sp>
        <p:nvSpPr>
          <p:cNvPr id="7" name="Text 5"/>
          <p:cNvSpPr/>
          <p:nvPr/>
        </p:nvSpPr>
        <p:spPr>
          <a:xfrm>
            <a:off x="886968" y="3026664"/>
            <a:ext cx="1426464" cy="228600"/>
          </a:xfrm>
          <a:prstGeom prst="rect">
            <a:avLst/>
          </a:prstGeom>
          <a:noFill/>
          <a:ln/>
        </p:spPr>
        <p:txBody>
          <a:bodyPr wrap="square" lIns="0" tIns="0" rIns="0" bIns="0" rtlCol="0" anchor="ctr"/>
          <a:lstStyle/>
          <a:p>
            <a:pPr marL="0" indent="0">
              <a:buNone/>
            </a:pPr>
            <a:r>
              <a:rPr lang="en-US" sz="1150" b="1" dirty="0">
                <a:solidFill>
                  <a:srgbClr val="F4A025"/>
                </a:solidFill>
              </a:rPr>
              <a:t>Feb</a:t>
            </a:r>
            <a:endParaRPr lang="en-US" sz="1150" dirty="0"/>
          </a:p>
        </p:txBody>
      </p:sp>
      <p:sp>
        <p:nvSpPr>
          <p:cNvPr id="8" name="Text 6"/>
          <p:cNvSpPr/>
          <p:nvPr/>
        </p:nvSpPr>
        <p:spPr>
          <a:xfrm>
            <a:off x="886968"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Approval, scope, requirements</a:t>
            </a:r>
            <a:endParaRPr lang="en-US" sz="820" dirty="0"/>
          </a:p>
        </p:txBody>
      </p:sp>
      <p:sp>
        <p:nvSpPr>
          <p:cNvPr id="9" name="Shape 7"/>
          <p:cNvSpPr/>
          <p:nvPr/>
        </p:nvSpPr>
        <p:spPr>
          <a:xfrm>
            <a:off x="2423160" y="3346704"/>
            <a:ext cx="228600" cy="0"/>
          </a:xfrm>
          <a:prstGeom prst="line">
            <a:avLst/>
          </a:prstGeom>
          <a:noFill/>
          <a:ln w="20320">
            <a:solidFill>
              <a:srgbClr val="B7B2A8"/>
            </a:solidFill>
            <a:prstDash val="solid"/>
            <a:headEnd type="none"/>
            <a:tailEnd type="triangle"/>
          </a:ln>
        </p:spPr>
        <p:txBody>
          <a:bodyPr/>
          <a:lstStyle/>
          <a:p>
            <a:endParaRPr lang="en-AU"/>
          </a:p>
        </p:txBody>
      </p:sp>
      <p:sp>
        <p:nvSpPr>
          <p:cNvPr id="10" name="Shape 8"/>
          <p:cNvSpPr/>
          <p:nvPr/>
        </p:nvSpPr>
        <p:spPr>
          <a:xfrm>
            <a:off x="2642616" y="2898648"/>
            <a:ext cx="1700784" cy="914400"/>
          </a:xfrm>
          <a:prstGeom prst="roundRect">
            <a:avLst>
              <a:gd name="adj" fmla="val 8000"/>
            </a:avLst>
          </a:prstGeom>
          <a:solidFill>
            <a:srgbClr val="172018"/>
          </a:solidFill>
          <a:ln w="8890">
            <a:solidFill>
              <a:srgbClr val="78B255">
                <a:alpha val="82000"/>
              </a:srgbClr>
            </a:solidFill>
            <a:prstDash val="solid"/>
          </a:ln>
        </p:spPr>
        <p:txBody>
          <a:bodyPr/>
          <a:lstStyle/>
          <a:p>
            <a:endParaRPr lang="en-AU"/>
          </a:p>
        </p:txBody>
      </p:sp>
      <p:sp>
        <p:nvSpPr>
          <p:cNvPr id="11" name="Text 9"/>
          <p:cNvSpPr/>
          <p:nvPr/>
        </p:nvSpPr>
        <p:spPr>
          <a:xfrm>
            <a:off x="2779776" y="3026664"/>
            <a:ext cx="1426464" cy="228600"/>
          </a:xfrm>
          <a:prstGeom prst="rect">
            <a:avLst/>
          </a:prstGeom>
          <a:noFill/>
          <a:ln/>
        </p:spPr>
        <p:txBody>
          <a:bodyPr wrap="square" lIns="0" tIns="0" rIns="0" bIns="0" rtlCol="0" anchor="ctr"/>
          <a:lstStyle/>
          <a:p>
            <a:pPr marL="0" indent="0">
              <a:buNone/>
            </a:pPr>
            <a:r>
              <a:rPr lang="en-US" sz="1150" b="1" dirty="0">
                <a:solidFill>
                  <a:srgbClr val="78B255"/>
                </a:solidFill>
              </a:rPr>
              <a:t>Mar</a:t>
            </a:r>
            <a:endParaRPr lang="en-US" sz="1150" dirty="0"/>
          </a:p>
        </p:txBody>
      </p:sp>
      <p:sp>
        <p:nvSpPr>
          <p:cNvPr id="12" name="Text 10"/>
          <p:cNvSpPr/>
          <p:nvPr/>
        </p:nvSpPr>
        <p:spPr>
          <a:xfrm>
            <a:off x="2779776"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Core chess rules + UI</a:t>
            </a:r>
            <a:endParaRPr lang="en-US" sz="820" dirty="0"/>
          </a:p>
        </p:txBody>
      </p:sp>
      <p:sp>
        <p:nvSpPr>
          <p:cNvPr id="13" name="Shape 11"/>
          <p:cNvSpPr/>
          <p:nvPr/>
        </p:nvSpPr>
        <p:spPr>
          <a:xfrm>
            <a:off x="4315968" y="3346704"/>
            <a:ext cx="228600" cy="0"/>
          </a:xfrm>
          <a:prstGeom prst="line">
            <a:avLst/>
          </a:prstGeom>
          <a:noFill/>
          <a:ln w="20320">
            <a:solidFill>
              <a:srgbClr val="B7B2A8"/>
            </a:solidFill>
            <a:prstDash val="solid"/>
            <a:headEnd type="none"/>
            <a:tailEnd type="triangle"/>
          </a:ln>
        </p:spPr>
        <p:txBody>
          <a:bodyPr/>
          <a:lstStyle/>
          <a:p>
            <a:endParaRPr lang="en-AU"/>
          </a:p>
        </p:txBody>
      </p:sp>
      <p:sp>
        <p:nvSpPr>
          <p:cNvPr id="14" name="Shape 12"/>
          <p:cNvSpPr/>
          <p:nvPr/>
        </p:nvSpPr>
        <p:spPr>
          <a:xfrm>
            <a:off x="4535424" y="2898648"/>
            <a:ext cx="1700784" cy="914400"/>
          </a:xfrm>
          <a:prstGeom prst="roundRect">
            <a:avLst>
              <a:gd name="adj" fmla="val 8000"/>
            </a:avLst>
          </a:prstGeom>
          <a:solidFill>
            <a:srgbClr val="172018"/>
          </a:solidFill>
          <a:ln w="8890">
            <a:solidFill>
              <a:srgbClr val="F4A025">
                <a:alpha val="82000"/>
              </a:srgbClr>
            </a:solidFill>
            <a:prstDash val="solid"/>
          </a:ln>
        </p:spPr>
        <p:txBody>
          <a:bodyPr/>
          <a:lstStyle/>
          <a:p>
            <a:endParaRPr lang="en-AU"/>
          </a:p>
        </p:txBody>
      </p:sp>
      <p:sp>
        <p:nvSpPr>
          <p:cNvPr id="15" name="Text 13"/>
          <p:cNvSpPr/>
          <p:nvPr/>
        </p:nvSpPr>
        <p:spPr>
          <a:xfrm>
            <a:off x="4672584" y="3026664"/>
            <a:ext cx="1426464" cy="228600"/>
          </a:xfrm>
          <a:prstGeom prst="rect">
            <a:avLst/>
          </a:prstGeom>
          <a:noFill/>
          <a:ln/>
        </p:spPr>
        <p:txBody>
          <a:bodyPr wrap="square" lIns="0" tIns="0" rIns="0" bIns="0" rtlCol="0" anchor="ctr"/>
          <a:lstStyle/>
          <a:p>
            <a:pPr marL="0" indent="0">
              <a:buNone/>
            </a:pPr>
            <a:r>
              <a:rPr lang="en-US" sz="1150" b="1" dirty="0">
                <a:solidFill>
                  <a:srgbClr val="F4A025"/>
                </a:solidFill>
              </a:rPr>
              <a:t>Apr</a:t>
            </a:r>
            <a:endParaRPr lang="en-US" sz="1150" dirty="0"/>
          </a:p>
        </p:txBody>
      </p:sp>
      <p:sp>
        <p:nvSpPr>
          <p:cNvPr id="16" name="Text 14"/>
          <p:cNvSpPr/>
          <p:nvPr/>
        </p:nvSpPr>
        <p:spPr>
          <a:xfrm>
            <a:off x="4672584"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AI, special moves, testing</a:t>
            </a:r>
            <a:endParaRPr lang="en-US" sz="820" dirty="0"/>
          </a:p>
        </p:txBody>
      </p:sp>
      <p:sp>
        <p:nvSpPr>
          <p:cNvPr id="17" name="Shape 15"/>
          <p:cNvSpPr/>
          <p:nvPr/>
        </p:nvSpPr>
        <p:spPr>
          <a:xfrm>
            <a:off x="6208776" y="3346704"/>
            <a:ext cx="228600" cy="0"/>
          </a:xfrm>
          <a:prstGeom prst="line">
            <a:avLst/>
          </a:prstGeom>
          <a:noFill/>
          <a:ln w="20320">
            <a:solidFill>
              <a:srgbClr val="B7B2A8"/>
            </a:solidFill>
            <a:prstDash val="solid"/>
            <a:headEnd type="none"/>
            <a:tailEnd type="triangle"/>
          </a:ln>
        </p:spPr>
        <p:txBody>
          <a:bodyPr/>
          <a:lstStyle/>
          <a:p>
            <a:endParaRPr lang="en-AU"/>
          </a:p>
        </p:txBody>
      </p:sp>
      <p:sp>
        <p:nvSpPr>
          <p:cNvPr id="18" name="Shape 16"/>
          <p:cNvSpPr/>
          <p:nvPr/>
        </p:nvSpPr>
        <p:spPr>
          <a:xfrm>
            <a:off x="6428232" y="2898648"/>
            <a:ext cx="1700784" cy="914400"/>
          </a:xfrm>
          <a:prstGeom prst="roundRect">
            <a:avLst>
              <a:gd name="adj" fmla="val 8000"/>
            </a:avLst>
          </a:prstGeom>
          <a:solidFill>
            <a:srgbClr val="172018"/>
          </a:solidFill>
          <a:ln w="8890">
            <a:solidFill>
              <a:srgbClr val="78B255">
                <a:alpha val="82000"/>
              </a:srgbClr>
            </a:solidFill>
            <a:prstDash val="solid"/>
          </a:ln>
        </p:spPr>
        <p:txBody>
          <a:bodyPr/>
          <a:lstStyle/>
          <a:p>
            <a:endParaRPr lang="en-AU"/>
          </a:p>
        </p:txBody>
      </p:sp>
      <p:sp>
        <p:nvSpPr>
          <p:cNvPr id="19" name="Text 17"/>
          <p:cNvSpPr/>
          <p:nvPr/>
        </p:nvSpPr>
        <p:spPr>
          <a:xfrm>
            <a:off x="6565392" y="3026664"/>
            <a:ext cx="1426464" cy="228600"/>
          </a:xfrm>
          <a:prstGeom prst="rect">
            <a:avLst/>
          </a:prstGeom>
          <a:noFill/>
          <a:ln/>
        </p:spPr>
        <p:txBody>
          <a:bodyPr wrap="square" lIns="0" tIns="0" rIns="0" bIns="0" rtlCol="0" anchor="ctr"/>
          <a:lstStyle/>
          <a:p>
            <a:pPr marL="0" indent="0">
              <a:buNone/>
            </a:pPr>
            <a:r>
              <a:rPr lang="en-US" sz="1150" b="1" dirty="0">
                <a:solidFill>
                  <a:srgbClr val="78B255"/>
                </a:solidFill>
              </a:rPr>
              <a:t>May</a:t>
            </a:r>
            <a:endParaRPr lang="en-US" sz="1150" dirty="0"/>
          </a:p>
        </p:txBody>
      </p:sp>
      <p:sp>
        <p:nvSpPr>
          <p:cNvPr id="20" name="Text 18"/>
          <p:cNvSpPr/>
          <p:nvPr/>
        </p:nvSpPr>
        <p:spPr>
          <a:xfrm>
            <a:off x="6565392"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Puzzles, bots, Stockfish</a:t>
            </a:r>
            <a:endParaRPr lang="en-US" sz="820" dirty="0"/>
          </a:p>
        </p:txBody>
      </p:sp>
      <p:sp>
        <p:nvSpPr>
          <p:cNvPr id="21" name="Shape 19"/>
          <p:cNvSpPr/>
          <p:nvPr/>
        </p:nvSpPr>
        <p:spPr>
          <a:xfrm>
            <a:off x="8101584" y="3346704"/>
            <a:ext cx="228600" cy="0"/>
          </a:xfrm>
          <a:prstGeom prst="line">
            <a:avLst/>
          </a:prstGeom>
          <a:noFill/>
          <a:ln w="20320">
            <a:solidFill>
              <a:srgbClr val="B7B2A8"/>
            </a:solidFill>
            <a:prstDash val="solid"/>
            <a:headEnd type="none"/>
            <a:tailEnd type="triangle"/>
          </a:ln>
        </p:spPr>
        <p:txBody>
          <a:bodyPr/>
          <a:lstStyle/>
          <a:p>
            <a:endParaRPr lang="en-AU"/>
          </a:p>
        </p:txBody>
      </p:sp>
      <p:sp>
        <p:nvSpPr>
          <p:cNvPr id="22" name="Shape 20"/>
          <p:cNvSpPr/>
          <p:nvPr/>
        </p:nvSpPr>
        <p:spPr>
          <a:xfrm>
            <a:off x="8321040" y="2898648"/>
            <a:ext cx="1700784" cy="914400"/>
          </a:xfrm>
          <a:prstGeom prst="roundRect">
            <a:avLst>
              <a:gd name="adj" fmla="val 8000"/>
            </a:avLst>
          </a:prstGeom>
          <a:solidFill>
            <a:srgbClr val="172018"/>
          </a:solidFill>
          <a:ln w="8890">
            <a:solidFill>
              <a:srgbClr val="F4A025">
                <a:alpha val="82000"/>
              </a:srgbClr>
            </a:solidFill>
            <a:prstDash val="solid"/>
          </a:ln>
        </p:spPr>
        <p:txBody>
          <a:bodyPr/>
          <a:lstStyle/>
          <a:p>
            <a:endParaRPr lang="en-AU"/>
          </a:p>
        </p:txBody>
      </p:sp>
      <p:sp>
        <p:nvSpPr>
          <p:cNvPr id="23" name="Text 21"/>
          <p:cNvSpPr/>
          <p:nvPr/>
        </p:nvSpPr>
        <p:spPr>
          <a:xfrm>
            <a:off x="8458200" y="3026664"/>
            <a:ext cx="1426464" cy="228600"/>
          </a:xfrm>
          <a:prstGeom prst="rect">
            <a:avLst/>
          </a:prstGeom>
          <a:noFill/>
          <a:ln/>
        </p:spPr>
        <p:txBody>
          <a:bodyPr wrap="square" lIns="0" tIns="0" rIns="0" bIns="0" rtlCol="0" anchor="ctr"/>
          <a:lstStyle/>
          <a:p>
            <a:pPr marL="0" indent="0">
              <a:buNone/>
            </a:pPr>
            <a:r>
              <a:rPr lang="en-US" sz="1150" b="1" dirty="0">
                <a:solidFill>
                  <a:srgbClr val="F4A025"/>
                </a:solidFill>
              </a:rPr>
              <a:t>Jun</a:t>
            </a:r>
            <a:endParaRPr lang="en-US" sz="1150" dirty="0"/>
          </a:p>
        </p:txBody>
      </p:sp>
      <p:sp>
        <p:nvSpPr>
          <p:cNvPr id="24" name="Text 22"/>
          <p:cNvSpPr/>
          <p:nvPr/>
        </p:nvSpPr>
        <p:spPr>
          <a:xfrm>
            <a:off x="8458200"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Executable + documentation</a:t>
            </a:r>
            <a:endParaRPr lang="en-US" sz="820" dirty="0"/>
          </a:p>
        </p:txBody>
      </p:sp>
      <p:sp>
        <p:nvSpPr>
          <p:cNvPr id="25" name="Shape 23"/>
          <p:cNvSpPr/>
          <p:nvPr/>
        </p:nvSpPr>
        <p:spPr>
          <a:xfrm>
            <a:off x="9994392" y="3346704"/>
            <a:ext cx="228600" cy="0"/>
          </a:xfrm>
          <a:prstGeom prst="line">
            <a:avLst/>
          </a:prstGeom>
          <a:noFill/>
          <a:ln w="20320">
            <a:solidFill>
              <a:srgbClr val="B7B2A8"/>
            </a:solidFill>
            <a:prstDash val="solid"/>
            <a:headEnd type="none"/>
            <a:tailEnd type="triangle"/>
          </a:ln>
        </p:spPr>
        <p:txBody>
          <a:bodyPr/>
          <a:lstStyle/>
          <a:p>
            <a:endParaRPr lang="en-AU"/>
          </a:p>
        </p:txBody>
      </p:sp>
      <p:sp>
        <p:nvSpPr>
          <p:cNvPr id="26" name="Shape 24"/>
          <p:cNvSpPr/>
          <p:nvPr/>
        </p:nvSpPr>
        <p:spPr>
          <a:xfrm>
            <a:off x="10213848" y="2898648"/>
            <a:ext cx="1700784" cy="914400"/>
          </a:xfrm>
          <a:prstGeom prst="roundRect">
            <a:avLst>
              <a:gd name="adj" fmla="val 8000"/>
            </a:avLst>
          </a:prstGeom>
          <a:solidFill>
            <a:srgbClr val="172018"/>
          </a:solidFill>
          <a:ln w="8890">
            <a:solidFill>
              <a:srgbClr val="78B255">
                <a:alpha val="82000"/>
              </a:srgbClr>
            </a:solidFill>
            <a:prstDash val="solid"/>
          </a:ln>
        </p:spPr>
        <p:txBody>
          <a:bodyPr/>
          <a:lstStyle/>
          <a:p>
            <a:endParaRPr lang="en-AU"/>
          </a:p>
        </p:txBody>
      </p:sp>
      <p:sp>
        <p:nvSpPr>
          <p:cNvPr id="27" name="Text 25"/>
          <p:cNvSpPr/>
          <p:nvPr/>
        </p:nvSpPr>
        <p:spPr>
          <a:xfrm>
            <a:off x="10351008" y="3026664"/>
            <a:ext cx="1426464" cy="228600"/>
          </a:xfrm>
          <a:prstGeom prst="rect">
            <a:avLst/>
          </a:prstGeom>
          <a:noFill/>
          <a:ln/>
        </p:spPr>
        <p:txBody>
          <a:bodyPr wrap="square" lIns="0" tIns="0" rIns="0" bIns="0" rtlCol="0" anchor="ctr"/>
          <a:lstStyle/>
          <a:p>
            <a:pPr marL="0" indent="0">
              <a:buNone/>
            </a:pPr>
            <a:r>
              <a:rPr lang="en-US" sz="1150" b="1" dirty="0">
                <a:solidFill>
                  <a:srgbClr val="78B255"/>
                </a:solidFill>
              </a:rPr>
              <a:t>Jul</a:t>
            </a:r>
            <a:endParaRPr lang="en-US" sz="1150" dirty="0"/>
          </a:p>
        </p:txBody>
      </p:sp>
      <p:sp>
        <p:nvSpPr>
          <p:cNvPr id="28" name="Text 26"/>
          <p:cNvSpPr/>
          <p:nvPr/>
        </p:nvSpPr>
        <p:spPr>
          <a:xfrm>
            <a:off x="10351008" y="3310128"/>
            <a:ext cx="1426464" cy="41148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Handover + presentation</a:t>
            </a:r>
            <a:endParaRPr lang="en-US" sz="820" dirty="0"/>
          </a:p>
        </p:txBody>
      </p:sp>
      <p:sp>
        <p:nvSpPr>
          <p:cNvPr id="29" name="Shape 27"/>
          <p:cNvSpPr/>
          <p:nvPr/>
        </p:nvSpPr>
        <p:spPr>
          <a:xfrm>
            <a:off x="6583680" y="1115568"/>
            <a:ext cx="4572000" cy="1417320"/>
          </a:xfrm>
          <a:prstGeom prst="roundRect">
            <a:avLst>
              <a:gd name="adj" fmla="val 5161"/>
            </a:avLst>
          </a:prstGeom>
          <a:solidFill>
            <a:srgbClr val="172017"/>
          </a:solidFill>
          <a:ln w="8890">
            <a:solidFill>
              <a:srgbClr val="78B255">
                <a:alpha val="80000"/>
              </a:srgbClr>
            </a:solidFill>
            <a:prstDash val="solid"/>
          </a:ln>
        </p:spPr>
        <p:txBody>
          <a:bodyPr/>
          <a:lstStyle/>
          <a:p>
            <a:endParaRPr lang="en-AU"/>
          </a:p>
        </p:txBody>
      </p:sp>
      <p:sp>
        <p:nvSpPr>
          <p:cNvPr id="30" name="Text 28"/>
          <p:cNvSpPr/>
          <p:nvPr/>
        </p:nvSpPr>
        <p:spPr>
          <a:xfrm>
            <a:off x="6812280" y="1307592"/>
            <a:ext cx="2560320" cy="219456"/>
          </a:xfrm>
          <a:prstGeom prst="rect">
            <a:avLst/>
          </a:prstGeom>
          <a:noFill/>
          <a:ln/>
        </p:spPr>
        <p:txBody>
          <a:bodyPr wrap="square" lIns="0" tIns="0" rIns="0" bIns="0" rtlCol="0" anchor="ctr"/>
          <a:lstStyle/>
          <a:p>
            <a:pPr marL="0" indent="0">
              <a:buNone/>
            </a:pPr>
            <a:r>
              <a:rPr lang="en-US" sz="1300" b="1" dirty="0">
                <a:solidFill>
                  <a:srgbClr val="78B255"/>
                </a:solidFill>
              </a:rPr>
              <a:t>Evidence produced</a:t>
            </a:r>
            <a:endParaRPr lang="en-US" sz="1300" dirty="0"/>
          </a:p>
        </p:txBody>
      </p:sp>
      <p:sp>
        <p:nvSpPr>
          <p:cNvPr id="31" name="Text 29"/>
          <p:cNvSpPr/>
          <p:nvPr/>
        </p:nvSpPr>
        <p:spPr>
          <a:xfrm>
            <a:off x="6903720" y="1627632"/>
            <a:ext cx="3794760" cy="713232"/>
          </a:xfrm>
          <a:prstGeom prst="rect">
            <a:avLst/>
          </a:prstGeom>
          <a:noFill/>
          <a:ln/>
        </p:spPr>
        <p:txBody>
          <a:bodyPr wrap="square" lIns="254" tIns="254" rIns="254" bIns="254" rtlCol="0" anchor="ctr">
            <a:normAutofit/>
          </a:bodyPr>
          <a:lstStyle/>
          <a:p>
            <a:r>
              <a:rPr lang="en-US" sz="940" dirty="0">
                <a:solidFill>
                  <a:srgbClr val="F4EFE3"/>
                </a:solidFill>
              </a:rPr>
              <a:t>Gantt chart and logbook</a:t>
            </a:r>
            <a:endParaRPr lang="en-US" sz="940" dirty="0"/>
          </a:p>
          <a:p>
            <a:r>
              <a:rPr lang="en-US" sz="940" dirty="0">
                <a:solidFill>
                  <a:srgbClr val="F4EFE3"/>
                </a:solidFill>
              </a:rPr>
              <a:t>Risk matrix and requirements list</a:t>
            </a:r>
            <a:endParaRPr lang="en-US" sz="940" dirty="0"/>
          </a:p>
          <a:p>
            <a:r>
              <a:rPr lang="en-US" sz="940" dirty="0">
                <a:solidFill>
                  <a:srgbClr val="F4EFE3"/>
                </a:solidFill>
              </a:rPr>
              <a:t>GitHub commit history</a:t>
            </a:r>
            <a:endParaRPr lang="en-US" sz="940" dirty="0"/>
          </a:p>
          <a:p>
            <a:r>
              <a:rPr lang="en-US" sz="940" dirty="0">
                <a:solidFill>
                  <a:srgbClr val="F4EFE3"/>
                </a:solidFill>
              </a:rPr>
              <a:t>Testing + refinement notes</a:t>
            </a:r>
            <a:endParaRPr lang="en-US" sz="940" dirty="0"/>
          </a:p>
        </p:txBody>
      </p:sp>
      <p:sp>
        <p:nvSpPr>
          <p:cNvPr id="32" name="Shape 30"/>
          <p:cNvSpPr/>
          <p:nvPr/>
        </p:nvSpPr>
        <p:spPr>
          <a:xfrm>
            <a:off x="6583680" y="4572000"/>
            <a:ext cx="4572000" cy="1143000"/>
          </a:xfrm>
          <a:prstGeom prst="roundRect">
            <a:avLst>
              <a:gd name="adj" fmla="val 6400"/>
            </a:avLst>
          </a:prstGeom>
          <a:solidFill>
            <a:srgbClr val="172017"/>
          </a:solidFill>
          <a:ln w="8890">
            <a:solidFill>
              <a:srgbClr val="F4A025">
                <a:alpha val="80000"/>
              </a:srgbClr>
            </a:solidFill>
            <a:prstDash val="solid"/>
          </a:ln>
        </p:spPr>
        <p:txBody>
          <a:bodyPr/>
          <a:lstStyle/>
          <a:p>
            <a:endParaRPr lang="en-AU"/>
          </a:p>
        </p:txBody>
      </p:sp>
      <p:sp>
        <p:nvSpPr>
          <p:cNvPr id="33" name="Text 31"/>
          <p:cNvSpPr/>
          <p:nvPr/>
        </p:nvSpPr>
        <p:spPr>
          <a:xfrm>
            <a:off x="6812280" y="4791456"/>
            <a:ext cx="3017520" cy="219456"/>
          </a:xfrm>
          <a:prstGeom prst="rect">
            <a:avLst/>
          </a:prstGeom>
          <a:noFill/>
          <a:ln/>
        </p:spPr>
        <p:txBody>
          <a:bodyPr wrap="square" lIns="0" tIns="0" rIns="0" bIns="0" rtlCol="0" anchor="ctr"/>
          <a:lstStyle/>
          <a:p>
            <a:pPr marL="0" indent="0">
              <a:buNone/>
            </a:pPr>
            <a:r>
              <a:rPr lang="en-US" sz="1300" b="1" dirty="0">
                <a:solidFill>
                  <a:srgbClr val="F4A025"/>
                </a:solidFill>
              </a:rPr>
              <a:t>Why this suited the project</a:t>
            </a:r>
            <a:endParaRPr lang="en-US" sz="1300" dirty="0"/>
          </a:p>
        </p:txBody>
      </p:sp>
      <p:sp>
        <p:nvSpPr>
          <p:cNvPr id="34" name="Text 32"/>
          <p:cNvSpPr/>
          <p:nvPr/>
        </p:nvSpPr>
        <p:spPr>
          <a:xfrm>
            <a:off x="6812280" y="5138928"/>
            <a:ext cx="3886200" cy="384048"/>
          </a:xfrm>
          <a:prstGeom prst="rect">
            <a:avLst/>
          </a:prstGeom>
          <a:noFill/>
          <a:ln/>
        </p:spPr>
        <p:txBody>
          <a:bodyPr wrap="square" lIns="0" tIns="0" rIns="0" bIns="0" rtlCol="0" anchor="ctr">
            <a:normAutofit/>
          </a:bodyPr>
          <a:lstStyle/>
          <a:p>
            <a:pPr marL="0" indent="0">
              <a:buNone/>
            </a:pPr>
            <a:r>
              <a:rPr lang="en-US" sz="920" dirty="0">
                <a:solidFill>
                  <a:srgbClr val="F4EFE3"/>
                </a:solidFill>
              </a:rPr>
              <a:t>Chess development involved uncertain bugs, UI feedback and AI behaviour tuning. Iterative testing allowed the solution to become more stable and user-focused over time.</a:t>
            </a:r>
            <a:endParaRPr lang="en-US" sz="920" dirty="0"/>
          </a:p>
        </p:txBody>
      </p:sp>
      <p:sp>
        <p:nvSpPr>
          <p:cNvPr id="35" name="Text 33"/>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Technologies &amp; Tool Justification</a:t>
            </a:r>
            <a:endParaRPr lang="en-US" sz="2350" dirty="0"/>
          </a:p>
        </p:txBody>
      </p:sp>
      <p:sp>
        <p:nvSpPr>
          <p:cNvPr id="4" name="Shape 2"/>
          <p:cNvSpPr/>
          <p:nvPr/>
        </p:nvSpPr>
        <p:spPr>
          <a:xfrm>
            <a:off x="713232" y="1298448"/>
            <a:ext cx="3246120" cy="1417320"/>
          </a:xfrm>
          <a:prstGeom prst="roundRect">
            <a:avLst>
              <a:gd name="adj" fmla="val 5161"/>
            </a:avLst>
          </a:prstGeom>
          <a:solidFill>
            <a:srgbClr val="172018"/>
          </a:solidFill>
          <a:ln w="8890">
            <a:solidFill>
              <a:srgbClr val="78B255">
                <a:alpha val="82000"/>
              </a:srgbClr>
            </a:solidFill>
            <a:prstDash val="solid"/>
          </a:ln>
        </p:spPr>
        <p:txBody>
          <a:bodyPr/>
          <a:lstStyle/>
          <a:p>
            <a:endParaRPr lang="en-AU"/>
          </a:p>
        </p:txBody>
      </p:sp>
      <p:sp>
        <p:nvSpPr>
          <p:cNvPr id="5" name="Text 3"/>
          <p:cNvSpPr/>
          <p:nvPr/>
        </p:nvSpPr>
        <p:spPr>
          <a:xfrm>
            <a:off x="850392" y="1426464"/>
            <a:ext cx="2971800" cy="228600"/>
          </a:xfrm>
          <a:prstGeom prst="rect">
            <a:avLst/>
          </a:prstGeom>
          <a:noFill/>
          <a:ln/>
        </p:spPr>
        <p:txBody>
          <a:bodyPr wrap="square" lIns="0" tIns="0" rIns="0" bIns="0" rtlCol="0" anchor="ctr"/>
          <a:lstStyle/>
          <a:p>
            <a:pPr marL="0" indent="0">
              <a:buNone/>
            </a:pPr>
            <a:r>
              <a:rPr lang="en-US" sz="1150" b="1" dirty="0">
                <a:solidFill>
                  <a:srgbClr val="78B255"/>
                </a:solidFill>
              </a:rPr>
              <a:t>Python</a:t>
            </a:r>
            <a:endParaRPr lang="en-US" sz="1150" dirty="0"/>
          </a:p>
        </p:txBody>
      </p:sp>
      <p:sp>
        <p:nvSpPr>
          <p:cNvPr id="6" name="Text 4"/>
          <p:cNvSpPr/>
          <p:nvPr/>
        </p:nvSpPr>
        <p:spPr>
          <a:xfrm>
            <a:off x="850392" y="1709928"/>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Clear syntax, strong education use and suitable for algorithms.</a:t>
            </a:r>
            <a:endParaRPr lang="en-US" sz="820" dirty="0"/>
          </a:p>
        </p:txBody>
      </p:sp>
      <p:sp>
        <p:nvSpPr>
          <p:cNvPr id="7" name="Shape 5"/>
          <p:cNvSpPr/>
          <p:nvPr/>
        </p:nvSpPr>
        <p:spPr>
          <a:xfrm>
            <a:off x="4480560" y="1298448"/>
            <a:ext cx="3246120" cy="1417320"/>
          </a:xfrm>
          <a:prstGeom prst="roundRect">
            <a:avLst>
              <a:gd name="adj" fmla="val 5161"/>
            </a:avLst>
          </a:prstGeom>
          <a:solidFill>
            <a:srgbClr val="172018"/>
          </a:solidFill>
          <a:ln w="8890">
            <a:solidFill>
              <a:srgbClr val="F4A025">
                <a:alpha val="82000"/>
              </a:srgbClr>
            </a:solidFill>
            <a:prstDash val="solid"/>
          </a:ln>
        </p:spPr>
        <p:txBody>
          <a:bodyPr/>
          <a:lstStyle/>
          <a:p>
            <a:endParaRPr lang="en-AU"/>
          </a:p>
        </p:txBody>
      </p:sp>
      <p:sp>
        <p:nvSpPr>
          <p:cNvPr id="8" name="Text 6"/>
          <p:cNvSpPr/>
          <p:nvPr/>
        </p:nvSpPr>
        <p:spPr>
          <a:xfrm>
            <a:off x="4617720" y="1426464"/>
            <a:ext cx="2971800" cy="228600"/>
          </a:xfrm>
          <a:prstGeom prst="rect">
            <a:avLst/>
          </a:prstGeom>
          <a:noFill/>
          <a:ln/>
        </p:spPr>
        <p:txBody>
          <a:bodyPr wrap="square" lIns="0" tIns="0" rIns="0" bIns="0" rtlCol="0" anchor="ctr"/>
          <a:lstStyle/>
          <a:p>
            <a:pPr marL="0" indent="0">
              <a:buNone/>
            </a:pPr>
            <a:r>
              <a:rPr lang="en-US" sz="1150" b="1" dirty="0">
                <a:solidFill>
                  <a:srgbClr val="F4A025"/>
                </a:solidFill>
              </a:rPr>
              <a:t>Pygame</a:t>
            </a:r>
            <a:endParaRPr lang="en-US" sz="1150" dirty="0"/>
          </a:p>
        </p:txBody>
      </p:sp>
      <p:sp>
        <p:nvSpPr>
          <p:cNvPr id="9" name="Text 7"/>
          <p:cNvSpPr/>
          <p:nvPr/>
        </p:nvSpPr>
        <p:spPr>
          <a:xfrm>
            <a:off x="4617720" y="1709928"/>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Real-time desktop graphics, input handling and sound.</a:t>
            </a:r>
            <a:endParaRPr lang="en-US" sz="820" dirty="0"/>
          </a:p>
        </p:txBody>
      </p:sp>
      <p:sp>
        <p:nvSpPr>
          <p:cNvPr id="10" name="Shape 8"/>
          <p:cNvSpPr/>
          <p:nvPr/>
        </p:nvSpPr>
        <p:spPr>
          <a:xfrm>
            <a:off x="8247888" y="1298448"/>
            <a:ext cx="3246120" cy="1417320"/>
          </a:xfrm>
          <a:prstGeom prst="roundRect">
            <a:avLst>
              <a:gd name="adj" fmla="val 5161"/>
            </a:avLst>
          </a:prstGeom>
          <a:solidFill>
            <a:srgbClr val="172018"/>
          </a:solidFill>
          <a:ln w="8890">
            <a:solidFill>
              <a:srgbClr val="4FC3F7">
                <a:alpha val="82000"/>
              </a:srgbClr>
            </a:solidFill>
            <a:prstDash val="solid"/>
          </a:ln>
        </p:spPr>
        <p:txBody>
          <a:bodyPr/>
          <a:lstStyle/>
          <a:p>
            <a:endParaRPr lang="en-AU"/>
          </a:p>
        </p:txBody>
      </p:sp>
      <p:sp>
        <p:nvSpPr>
          <p:cNvPr id="11" name="Text 9"/>
          <p:cNvSpPr/>
          <p:nvPr/>
        </p:nvSpPr>
        <p:spPr>
          <a:xfrm>
            <a:off x="8385048" y="1426464"/>
            <a:ext cx="2971800" cy="228600"/>
          </a:xfrm>
          <a:prstGeom prst="rect">
            <a:avLst/>
          </a:prstGeom>
          <a:noFill/>
          <a:ln/>
        </p:spPr>
        <p:txBody>
          <a:bodyPr wrap="square" lIns="0" tIns="0" rIns="0" bIns="0" rtlCol="0" anchor="ctr"/>
          <a:lstStyle/>
          <a:p>
            <a:pPr marL="0" indent="0">
              <a:buNone/>
            </a:pPr>
            <a:r>
              <a:rPr lang="en-US" sz="1150" b="1" dirty="0">
                <a:solidFill>
                  <a:srgbClr val="4FC3F7"/>
                </a:solidFill>
              </a:rPr>
              <a:t>VS Code</a:t>
            </a:r>
            <a:endParaRPr lang="en-US" sz="1150" dirty="0"/>
          </a:p>
        </p:txBody>
      </p:sp>
      <p:sp>
        <p:nvSpPr>
          <p:cNvPr id="12" name="Text 10"/>
          <p:cNvSpPr/>
          <p:nvPr/>
        </p:nvSpPr>
        <p:spPr>
          <a:xfrm>
            <a:off x="8385048" y="1709928"/>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Used for coding, terminal testing and file structure management.</a:t>
            </a:r>
            <a:endParaRPr lang="en-US" sz="820" dirty="0"/>
          </a:p>
        </p:txBody>
      </p:sp>
      <p:sp>
        <p:nvSpPr>
          <p:cNvPr id="13" name="Shape 11"/>
          <p:cNvSpPr/>
          <p:nvPr/>
        </p:nvSpPr>
        <p:spPr>
          <a:xfrm>
            <a:off x="713232" y="3291840"/>
            <a:ext cx="3246120" cy="1417320"/>
          </a:xfrm>
          <a:prstGeom prst="roundRect">
            <a:avLst>
              <a:gd name="adj" fmla="val 5161"/>
            </a:avLst>
          </a:prstGeom>
          <a:solidFill>
            <a:srgbClr val="172018"/>
          </a:solidFill>
          <a:ln w="8890">
            <a:solidFill>
              <a:srgbClr val="9E68FF">
                <a:alpha val="82000"/>
              </a:srgbClr>
            </a:solidFill>
            <a:prstDash val="solid"/>
          </a:ln>
        </p:spPr>
        <p:txBody>
          <a:bodyPr/>
          <a:lstStyle/>
          <a:p>
            <a:endParaRPr lang="en-AU"/>
          </a:p>
        </p:txBody>
      </p:sp>
      <p:sp>
        <p:nvSpPr>
          <p:cNvPr id="14" name="Text 12"/>
          <p:cNvSpPr/>
          <p:nvPr/>
        </p:nvSpPr>
        <p:spPr>
          <a:xfrm>
            <a:off x="850392" y="3419856"/>
            <a:ext cx="2971800" cy="228600"/>
          </a:xfrm>
          <a:prstGeom prst="rect">
            <a:avLst/>
          </a:prstGeom>
          <a:noFill/>
          <a:ln/>
        </p:spPr>
        <p:txBody>
          <a:bodyPr wrap="square" lIns="0" tIns="0" rIns="0" bIns="0" rtlCol="0" anchor="ctr"/>
          <a:lstStyle/>
          <a:p>
            <a:pPr marL="0" indent="0">
              <a:buNone/>
            </a:pPr>
            <a:r>
              <a:rPr lang="en-US" sz="1150" b="1" dirty="0">
                <a:solidFill>
                  <a:srgbClr val="9E68FF"/>
                </a:solidFill>
              </a:rPr>
              <a:t>GitHub</a:t>
            </a:r>
            <a:endParaRPr lang="en-US" sz="1150" dirty="0"/>
          </a:p>
        </p:txBody>
      </p:sp>
      <p:sp>
        <p:nvSpPr>
          <p:cNvPr id="15" name="Text 13"/>
          <p:cNvSpPr/>
          <p:nvPr/>
        </p:nvSpPr>
        <p:spPr>
          <a:xfrm>
            <a:off x="850392" y="3703320"/>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Version control, commit history, README and release evidence.</a:t>
            </a:r>
            <a:endParaRPr lang="en-US" sz="820" dirty="0"/>
          </a:p>
        </p:txBody>
      </p:sp>
      <p:sp>
        <p:nvSpPr>
          <p:cNvPr id="16" name="Shape 14"/>
          <p:cNvSpPr/>
          <p:nvPr/>
        </p:nvSpPr>
        <p:spPr>
          <a:xfrm>
            <a:off x="4480560" y="3291840"/>
            <a:ext cx="3246120" cy="1417320"/>
          </a:xfrm>
          <a:prstGeom prst="roundRect">
            <a:avLst>
              <a:gd name="adj" fmla="val 5161"/>
            </a:avLst>
          </a:prstGeom>
          <a:solidFill>
            <a:srgbClr val="172018"/>
          </a:solidFill>
          <a:ln w="8890">
            <a:solidFill>
              <a:srgbClr val="5B8C43">
                <a:alpha val="82000"/>
              </a:srgbClr>
            </a:solidFill>
            <a:prstDash val="solid"/>
          </a:ln>
        </p:spPr>
        <p:txBody>
          <a:bodyPr/>
          <a:lstStyle/>
          <a:p>
            <a:endParaRPr lang="en-AU"/>
          </a:p>
        </p:txBody>
      </p:sp>
      <p:sp>
        <p:nvSpPr>
          <p:cNvPr id="17" name="Text 15"/>
          <p:cNvSpPr/>
          <p:nvPr/>
        </p:nvSpPr>
        <p:spPr>
          <a:xfrm>
            <a:off x="4617720" y="3419856"/>
            <a:ext cx="2971800" cy="228600"/>
          </a:xfrm>
          <a:prstGeom prst="rect">
            <a:avLst/>
          </a:prstGeom>
          <a:noFill/>
          <a:ln/>
        </p:spPr>
        <p:txBody>
          <a:bodyPr wrap="square" lIns="0" tIns="0" rIns="0" bIns="0" rtlCol="0" anchor="ctr"/>
          <a:lstStyle/>
          <a:p>
            <a:pPr marL="0" indent="0">
              <a:buNone/>
            </a:pPr>
            <a:r>
              <a:rPr lang="en-US" sz="1150" b="1" dirty="0">
                <a:solidFill>
                  <a:srgbClr val="5B8C43"/>
                </a:solidFill>
              </a:rPr>
              <a:t>Stockfish</a:t>
            </a:r>
            <a:endParaRPr lang="en-US" sz="1150" dirty="0"/>
          </a:p>
        </p:txBody>
      </p:sp>
      <p:sp>
        <p:nvSpPr>
          <p:cNvPr id="18" name="Text 16"/>
          <p:cNvSpPr/>
          <p:nvPr/>
        </p:nvSpPr>
        <p:spPr>
          <a:xfrm>
            <a:off x="4617720" y="3703320"/>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External UCI engine used for stronger review and high-rated bots.</a:t>
            </a:r>
            <a:endParaRPr lang="en-US" sz="820" dirty="0"/>
          </a:p>
        </p:txBody>
      </p:sp>
      <p:sp>
        <p:nvSpPr>
          <p:cNvPr id="19" name="Shape 17"/>
          <p:cNvSpPr/>
          <p:nvPr/>
        </p:nvSpPr>
        <p:spPr>
          <a:xfrm>
            <a:off x="8247888" y="3291840"/>
            <a:ext cx="3246120" cy="1417320"/>
          </a:xfrm>
          <a:prstGeom prst="roundRect">
            <a:avLst>
              <a:gd name="adj" fmla="val 5161"/>
            </a:avLst>
          </a:prstGeom>
          <a:solidFill>
            <a:srgbClr val="172018"/>
          </a:solidFill>
          <a:ln w="8890">
            <a:solidFill>
              <a:srgbClr val="D98316">
                <a:alpha val="82000"/>
              </a:srgbClr>
            </a:solidFill>
            <a:prstDash val="solid"/>
          </a:ln>
        </p:spPr>
        <p:txBody>
          <a:bodyPr/>
          <a:lstStyle/>
          <a:p>
            <a:endParaRPr lang="en-AU"/>
          </a:p>
        </p:txBody>
      </p:sp>
      <p:sp>
        <p:nvSpPr>
          <p:cNvPr id="20" name="Text 18"/>
          <p:cNvSpPr/>
          <p:nvPr/>
        </p:nvSpPr>
        <p:spPr>
          <a:xfrm>
            <a:off x="8385048" y="3419856"/>
            <a:ext cx="2971800" cy="228600"/>
          </a:xfrm>
          <a:prstGeom prst="rect">
            <a:avLst/>
          </a:prstGeom>
          <a:noFill/>
          <a:ln/>
        </p:spPr>
        <p:txBody>
          <a:bodyPr wrap="square" lIns="0" tIns="0" rIns="0" bIns="0" rtlCol="0" anchor="ctr"/>
          <a:lstStyle/>
          <a:p>
            <a:pPr marL="0" indent="0">
              <a:buNone/>
            </a:pPr>
            <a:r>
              <a:rPr lang="en-US" sz="1150" b="1" dirty="0">
                <a:solidFill>
                  <a:srgbClr val="D98316"/>
                </a:solidFill>
              </a:rPr>
              <a:t>PyInstaller</a:t>
            </a:r>
            <a:endParaRPr lang="en-US" sz="1150" dirty="0"/>
          </a:p>
        </p:txBody>
      </p:sp>
      <p:sp>
        <p:nvSpPr>
          <p:cNvPr id="21" name="Text 19"/>
          <p:cNvSpPr/>
          <p:nvPr/>
        </p:nvSpPr>
        <p:spPr>
          <a:xfrm>
            <a:off x="8385048" y="3703320"/>
            <a:ext cx="2971800" cy="91440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Creates downloadable executable so app runs outside the IDE.</a:t>
            </a:r>
            <a:endParaRPr lang="en-US" sz="820" dirty="0"/>
          </a:p>
        </p:txBody>
      </p:sp>
      <p:sp>
        <p:nvSpPr>
          <p:cNvPr id="22" name="Text 20"/>
          <p:cNvSpPr/>
          <p:nvPr/>
        </p:nvSpPr>
        <p:spPr>
          <a:xfrm>
            <a:off x="868680" y="5806440"/>
            <a:ext cx="10515600" cy="292608"/>
          </a:xfrm>
          <a:prstGeom prst="rect">
            <a:avLst/>
          </a:prstGeom>
          <a:noFill/>
          <a:ln/>
        </p:spPr>
        <p:txBody>
          <a:bodyPr wrap="square" lIns="0" tIns="0" rIns="0" bIns="0" rtlCol="0" anchor="ctr"/>
          <a:lstStyle/>
          <a:p>
            <a:pPr marL="0" indent="0" algn="ctr">
              <a:buNone/>
            </a:pPr>
            <a:r>
              <a:rPr lang="en-US" sz="1250" b="1" dirty="0">
                <a:solidFill>
                  <a:srgbClr val="F4EFE3"/>
                </a:solidFill>
              </a:rPr>
              <a:t>Selection logic: tools were chosen for reliability, local offline deployment, visible UI output and alignment with the Software Engineering advanced app requirement.</a:t>
            </a:r>
            <a:endParaRPr lang="en-US" sz="1250" dirty="0"/>
          </a:p>
        </p:txBody>
      </p:sp>
      <p:sp>
        <p:nvSpPr>
          <p:cNvPr id="23" name="Text 21"/>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System Architecture</a:t>
            </a:r>
            <a:endParaRPr lang="en-US" sz="2350" dirty="0"/>
          </a:p>
        </p:txBody>
      </p:sp>
      <p:sp>
        <p:nvSpPr>
          <p:cNvPr id="4" name="Text 2"/>
          <p:cNvSpPr/>
          <p:nvPr/>
        </p:nvSpPr>
        <p:spPr>
          <a:xfrm>
            <a:off x="749808" y="960120"/>
            <a:ext cx="7498080" cy="310896"/>
          </a:xfrm>
          <a:prstGeom prst="rect">
            <a:avLst/>
          </a:prstGeom>
          <a:noFill/>
          <a:ln/>
        </p:spPr>
        <p:txBody>
          <a:bodyPr wrap="square" lIns="0" tIns="0" rIns="0" bIns="0" rtlCol="0" anchor="ctr"/>
          <a:lstStyle/>
          <a:p>
            <a:pPr marL="0" indent="0">
              <a:buNone/>
            </a:pPr>
            <a:r>
              <a:rPr lang="en-US" sz="1500" dirty="0">
                <a:solidFill>
                  <a:srgbClr val="B7B2A8"/>
                </a:solidFill>
              </a:rPr>
              <a:t>Separation of responsibilities keeps the project maintainable.</a:t>
            </a:r>
            <a:endParaRPr lang="en-US" sz="1500" dirty="0"/>
          </a:p>
        </p:txBody>
      </p:sp>
      <p:sp>
        <p:nvSpPr>
          <p:cNvPr id="5" name="Shape 3"/>
          <p:cNvSpPr/>
          <p:nvPr/>
        </p:nvSpPr>
        <p:spPr>
          <a:xfrm>
            <a:off x="822960" y="1600200"/>
            <a:ext cx="2240280" cy="1005840"/>
          </a:xfrm>
          <a:prstGeom prst="roundRect">
            <a:avLst>
              <a:gd name="adj" fmla="val 7273"/>
            </a:avLst>
          </a:prstGeom>
          <a:solidFill>
            <a:srgbClr val="172018"/>
          </a:solidFill>
          <a:ln w="8890">
            <a:solidFill>
              <a:srgbClr val="F4A025">
                <a:alpha val="82000"/>
              </a:srgbClr>
            </a:solidFill>
            <a:prstDash val="solid"/>
          </a:ln>
        </p:spPr>
        <p:txBody>
          <a:bodyPr/>
          <a:lstStyle/>
          <a:p>
            <a:endParaRPr lang="en-AU"/>
          </a:p>
        </p:txBody>
      </p:sp>
      <p:sp>
        <p:nvSpPr>
          <p:cNvPr id="6" name="Text 4"/>
          <p:cNvSpPr/>
          <p:nvPr/>
        </p:nvSpPr>
        <p:spPr>
          <a:xfrm>
            <a:off x="960120" y="1728216"/>
            <a:ext cx="1965960" cy="228600"/>
          </a:xfrm>
          <a:prstGeom prst="rect">
            <a:avLst/>
          </a:prstGeom>
          <a:noFill/>
          <a:ln/>
        </p:spPr>
        <p:txBody>
          <a:bodyPr wrap="square" lIns="0" tIns="0" rIns="0" bIns="0" rtlCol="0" anchor="ctr"/>
          <a:lstStyle/>
          <a:p>
            <a:pPr marL="0" indent="0">
              <a:buNone/>
            </a:pPr>
            <a:r>
              <a:rPr lang="en-US" sz="1150" b="1" dirty="0">
                <a:solidFill>
                  <a:srgbClr val="F4A025"/>
                </a:solidFill>
              </a:rPr>
              <a:t>ChessMain.py</a:t>
            </a:r>
            <a:endParaRPr lang="en-US" sz="1150" dirty="0"/>
          </a:p>
        </p:txBody>
      </p:sp>
      <p:sp>
        <p:nvSpPr>
          <p:cNvPr id="7" name="Text 5"/>
          <p:cNvSpPr/>
          <p:nvPr/>
        </p:nvSpPr>
        <p:spPr>
          <a:xfrm>
            <a:off x="960120" y="2011680"/>
            <a:ext cx="1965960" cy="5029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Pygame interface, game loop, tabs, input, drawing and user interaction.</a:t>
            </a:r>
            <a:endParaRPr lang="en-US" sz="820" dirty="0"/>
          </a:p>
        </p:txBody>
      </p:sp>
      <p:sp>
        <p:nvSpPr>
          <p:cNvPr id="8" name="Shape 6"/>
          <p:cNvSpPr/>
          <p:nvPr/>
        </p:nvSpPr>
        <p:spPr>
          <a:xfrm>
            <a:off x="3657600" y="1600200"/>
            <a:ext cx="2240280" cy="1005840"/>
          </a:xfrm>
          <a:prstGeom prst="roundRect">
            <a:avLst>
              <a:gd name="adj" fmla="val 7273"/>
            </a:avLst>
          </a:prstGeom>
          <a:solidFill>
            <a:srgbClr val="172018"/>
          </a:solidFill>
          <a:ln w="8890">
            <a:solidFill>
              <a:srgbClr val="78B255">
                <a:alpha val="82000"/>
              </a:srgbClr>
            </a:solidFill>
            <a:prstDash val="solid"/>
          </a:ln>
        </p:spPr>
        <p:txBody>
          <a:bodyPr/>
          <a:lstStyle/>
          <a:p>
            <a:endParaRPr lang="en-AU"/>
          </a:p>
        </p:txBody>
      </p:sp>
      <p:sp>
        <p:nvSpPr>
          <p:cNvPr id="9" name="Text 7"/>
          <p:cNvSpPr/>
          <p:nvPr/>
        </p:nvSpPr>
        <p:spPr>
          <a:xfrm>
            <a:off x="3794760" y="1728216"/>
            <a:ext cx="1965960" cy="228600"/>
          </a:xfrm>
          <a:prstGeom prst="rect">
            <a:avLst/>
          </a:prstGeom>
          <a:noFill/>
          <a:ln/>
        </p:spPr>
        <p:txBody>
          <a:bodyPr wrap="square" lIns="0" tIns="0" rIns="0" bIns="0" rtlCol="0" anchor="ctr"/>
          <a:lstStyle/>
          <a:p>
            <a:pPr marL="0" indent="0">
              <a:buNone/>
            </a:pPr>
            <a:r>
              <a:rPr lang="en-US" sz="1150" b="1" dirty="0">
                <a:solidFill>
                  <a:srgbClr val="78B255"/>
                </a:solidFill>
              </a:rPr>
              <a:t>ChessEngine.py</a:t>
            </a:r>
            <a:endParaRPr lang="en-US" sz="1150" dirty="0"/>
          </a:p>
        </p:txBody>
      </p:sp>
      <p:sp>
        <p:nvSpPr>
          <p:cNvPr id="10" name="Text 8"/>
          <p:cNvSpPr/>
          <p:nvPr/>
        </p:nvSpPr>
        <p:spPr>
          <a:xfrm>
            <a:off x="3794760" y="2011680"/>
            <a:ext cx="1965960" cy="5029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Board state, legal moves, special rules, checkmate and draw logic.</a:t>
            </a:r>
            <a:endParaRPr lang="en-US" sz="820" dirty="0"/>
          </a:p>
        </p:txBody>
      </p:sp>
      <p:sp>
        <p:nvSpPr>
          <p:cNvPr id="11" name="Shape 9"/>
          <p:cNvSpPr/>
          <p:nvPr/>
        </p:nvSpPr>
        <p:spPr>
          <a:xfrm>
            <a:off x="6492240" y="1600200"/>
            <a:ext cx="2240280" cy="1005840"/>
          </a:xfrm>
          <a:prstGeom prst="roundRect">
            <a:avLst>
              <a:gd name="adj" fmla="val 7273"/>
            </a:avLst>
          </a:prstGeom>
          <a:solidFill>
            <a:srgbClr val="172018"/>
          </a:solidFill>
          <a:ln w="8890">
            <a:solidFill>
              <a:srgbClr val="4FC3F7">
                <a:alpha val="82000"/>
              </a:srgbClr>
            </a:solidFill>
            <a:prstDash val="solid"/>
          </a:ln>
        </p:spPr>
        <p:txBody>
          <a:bodyPr/>
          <a:lstStyle/>
          <a:p>
            <a:endParaRPr lang="en-AU"/>
          </a:p>
        </p:txBody>
      </p:sp>
      <p:sp>
        <p:nvSpPr>
          <p:cNvPr id="12" name="Text 10"/>
          <p:cNvSpPr/>
          <p:nvPr/>
        </p:nvSpPr>
        <p:spPr>
          <a:xfrm>
            <a:off x="6629400" y="1728216"/>
            <a:ext cx="1965960" cy="228600"/>
          </a:xfrm>
          <a:prstGeom prst="rect">
            <a:avLst/>
          </a:prstGeom>
          <a:noFill/>
          <a:ln/>
        </p:spPr>
        <p:txBody>
          <a:bodyPr wrap="square" lIns="0" tIns="0" rIns="0" bIns="0" rtlCol="0" anchor="ctr"/>
          <a:lstStyle/>
          <a:p>
            <a:pPr marL="0" indent="0">
              <a:buNone/>
            </a:pPr>
            <a:r>
              <a:rPr lang="en-US" sz="1150" b="1" dirty="0">
                <a:solidFill>
                  <a:srgbClr val="4FC3F7"/>
                </a:solidFill>
              </a:rPr>
              <a:t>SmartMoveFinder.py</a:t>
            </a:r>
            <a:endParaRPr lang="en-US" sz="1150" dirty="0"/>
          </a:p>
        </p:txBody>
      </p:sp>
      <p:sp>
        <p:nvSpPr>
          <p:cNvPr id="13" name="Text 11"/>
          <p:cNvSpPr/>
          <p:nvPr/>
        </p:nvSpPr>
        <p:spPr>
          <a:xfrm>
            <a:off x="6629400" y="2011680"/>
            <a:ext cx="1965960" cy="5029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Internal AI, bot personalities, move ordering and fallbacks.</a:t>
            </a:r>
            <a:endParaRPr lang="en-US" sz="820" dirty="0"/>
          </a:p>
        </p:txBody>
      </p:sp>
      <p:sp>
        <p:nvSpPr>
          <p:cNvPr id="14" name="Shape 12"/>
          <p:cNvSpPr/>
          <p:nvPr/>
        </p:nvSpPr>
        <p:spPr>
          <a:xfrm>
            <a:off x="9326880" y="1600200"/>
            <a:ext cx="2240280" cy="1005840"/>
          </a:xfrm>
          <a:prstGeom prst="roundRect">
            <a:avLst>
              <a:gd name="adj" fmla="val 7273"/>
            </a:avLst>
          </a:prstGeom>
          <a:solidFill>
            <a:srgbClr val="172018"/>
          </a:solidFill>
          <a:ln w="8890">
            <a:solidFill>
              <a:srgbClr val="9E68FF">
                <a:alpha val="82000"/>
              </a:srgbClr>
            </a:solidFill>
            <a:prstDash val="solid"/>
          </a:ln>
        </p:spPr>
        <p:txBody>
          <a:bodyPr/>
          <a:lstStyle/>
          <a:p>
            <a:endParaRPr lang="en-AU"/>
          </a:p>
        </p:txBody>
      </p:sp>
      <p:sp>
        <p:nvSpPr>
          <p:cNvPr id="15" name="Text 13"/>
          <p:cNvSpPr/>
          <p:nvPr/>
        </p:nvSpPr>
        <p:spPr>
          <a:xfrm>
            <a:off x="9464040" y="1728216"/>
            <a:ext cx="1965960" cy="228600"/>
          </a:xfrm>
          <a:prstGeom prst="rect">
            <a:avLst/>
          </a:prstGeom>
          <a:noFill/>
          <a:ln/>
        </p:spPr>
        <p:txBody>
          <a:bodyPr wrap="square" lIns="0" tIns="0" rIns="0" bIns="0" rtlCol="0" anchor="ctr"/>
          <a:lstStyle/>
          <a:p>
            <a:pPr marL="0" indent="0">
              <a:buNone/>
            </a:pPr>
            <a:r>
              <a:rPr lang="en-US" sz="1150" b="1" dirty="0">
                <a:solidFill>
                  <a:srgbClr val="9E68FF"/>
                </a:solidFill>
              </a:rPr>
              <a:t>stockfish_review.py</a:t>
            </a:r>
            <a:endParaRPr lang="en-US" sz="1150" dirty="0"/>
          </a:p>
        </p:txBody>
      </p:sp>
      <p:sp>
        <p:nvSpPr>
          <p:cNvPr id="16" name="Text 14"/>
          <p:cNvSpPr/>
          <p:nvPr/>
        </p:nvSpPr>
        <p:spPr>
          <a:xfrm>
            <a:off x="9464040" y="2011680"/>
            <a:ext cx="1965960" cy="502920"/>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UCI communication, best moves, evaluations and game review.</a:t>
            </a:r>
            <a:endParaRPr lang="en-US" sz="820" dirty="0"/>
          </a:p>
        </p:txBody>
      </p:sp>
      <p:sp>
        <p:nvSpPr>
          <p:cNvPr id="17" name="Shape 15"/>
          <p:cNvSpPr/>
          <p:nvPr/>
        </p:nvSpPr>
        <p:spPr>
          <a:xfrm>
            <a:off x="3063240" y="2103120"/>
            <a:ext cx="594360" cy="0"/>
          </a:xfrm>
          <a:prstGeom prst="line">
            <a:avLst/>
          </a:prstGeom>
          <a:noFill/>
          <a:ln w="20320">
            <a:solidFill>
              <a:srgbClr val="B7B2A8"/>
            </a:solidFill>
            <a:prstDash val="solid"/>
            <a:headEnd type="none"/>
            <a:tailEnd type="triangle"/>
          </a:ln>
        </p:spPr>
        <p:txBody>
          <a:bodyPr/>
          <a:lstStyle/>
          <a:p>
            <a:endParaRPr lang="en-AU"/>
          </a:p>
        </p:txBody>
      </p:sp>
      <p:sp>
        <p:nvSpPr>
          <p:cNvPr id="18" name="Shape 16"/>
          <p:cNvSpPr/>
          <p:nvPr/>
        </p:nvSpPr>
        <p:spPr>
          <a:xfrm>
            <a:off x="5897880" y="2103120"/>
            <a:ext cx="594360" cy="0"/>
          </a:xfrm>
          <a:prstGeom prst="line">
            <a:avLst/>
          </a:prstGeom>
          <a:noFill/>
          <a:ln w="20320">
            <a:solidFill>
              <a:srgbClr val="B7B2A8"/>
            </a:solidFill>
            <a:prstDash val="solid"/>
            <a:headEnd type="none"/>
            <a:tailEnd type="triangle"/>
          </a:ln>
        </p:spPr>
        <p:txBody>
          <a:bodyPr/>
          <a:lstStyle/>
          <a:p>
            <a:endParaRPr lang="en-AU"/>
          </a:p>
        </p:txBody>
      </p:sp>
      <p:sp>
        <p:nvSpPr>
          <p:cNvPr id="19" name="Shape 17"/>
          <p:cNvSpPr/>
          <p:nvPr/>
        </p:nvSpPr>
        <p:spPr>
          <a:xfrm>
            <a:off x="8732520" y="2103120"/>
            <a:ext cx="594360" cy="0"/>
          </a:xfrm>
          <a:prstGeom prst="line">
            <a:avLst/>
          </a:prstGeom>
          <a:noFill/>
          <a:ln w="20320">
            <a:solidFill>
              <a:srgbClr val="B7B2A8"/>
            </a:solidFill>
            <a:prstDash val="solid"/>
            <a:headEnd type="none"/>
            <a:tailEnd type="triangle"/>
          </a:ln>
        </p:spPr>
        <p:txBody>
          <a:bodyPr/>
          <a:lstStyle/>
          <a:p>
            <a:endParaRPr lang="en-AU"/>
          </a:p>
        </p:txBody>
      </p:sp>
      <p:sp>
        <p:nvSpPr>
          <p:cNvPr id="20" name="Shape 18"/>
          <p:cNvSpPr/>
          <p:nvPr/>
        </p:nvSpPr>
        <p:spPr>
          <a:xfrm>
            <a:off x="832104" y="3026664"/>
            <a:ext cx="5468112" cy="2496312"/>
          </a:xfrm>
          <a:prstGeom prst="roundRect">
            <a:avLst>
              <a:gd name="adj" fmla="val 2930"/>
            </a:avLst>
          </a:prstGeom>
          <a:solidFill>
            <a:srgbClr val="0B0F0C"/>
          </a:solidFill>
          <a:ln w="8890">
            <a:solidFill>
              <a:srgbClr val="2E402D">
                <a:alpha val="90000"/>
              </a:srgbClr>
            </a:solidFill>
            <a:prstDash val="solid"/>
          </a:ln>
        </p:spPr>
        <p:txBody>
          <a:bodyPr/>
          <a:lstStyle/>
          <a:p>
            <a:endParaRPr lang="en-AU"/>
          </a:p>
        </p:txBody>
      </p:sp>
      <p:pic>
        <p:nvPicPr>
          <p:cNvPr id="21" name="Image 0" descr="/mnt/data/image(247).png"/>
          <p:cNvPicPr>
            <a:picLocks noChangeAspect="1"/>
          </p:cNvPicPr>
          <p:nvPr/>
        </p:nvPicPr>
        <p:blipFill>
          <a:blip r:embed="rId3"/>
          <a:srcRect t="8200" b="8200"/>
          <a:stretch/>
        </p:blipFill>
        <p:spPr>
          <a:xfrm>
            <a:off x="868680" y="3063240"/>
            <a:ext cx="5394960" cy="2423160"/>
          </a:xfrm>
          <a:prstGeom prst="rect">
            <a:avLst/>
          </a:prstGeom>
        </p:spPr>
      </p:pic>
      <p:sp>
        <p:nvSpPr>
          <p:cNvPr id="22" name="Shape 19"/>
          <p:cNvSpPr/>
          <p:nvPr/>
        </p:nvSpPr>
        <p:spPr>
          <a:xfrm>
            <a:off x="6583680" y="3063240"/>
            <a:ext cx="4617720" cy="2423160"/>
          </a:xfrm>
          <a:prstGeom prst="roundRect">
            <a:avLst>
              <a:gd name="adj" fmla="val 3019"/>
            </a:avLst>
          </a:prstGeom>
          <a:solidFill>
            <a:srgbClr val="151B16"/>
          </a:solidFill>
          <a:ln w="8890">
            <a:solidFill>
              <a:srgbClr val="78B255">
                <a:alpha val="80000"/>
              </a:srgbClr>
            </a:solidFill>
            <a:prstDash val="solid"/>
          </a:ln>
        </p:spPr>
        <p:txBody>
          <a:bodyPr/>
          <a:lstStyle/>
          <a:p>
            <a:endParaRPr lang="en-AU"/>
          </a:p>
        </p:txBody>
      </p:sp>
      <p:sp>
        <p:nvSpPr>
          <p:cNvPr id="23" name="Text 20"/>
          <p:cNvSpPr/>
          <p:nvPr/>
        </p:nvSpPr>
        <p:spPr>
          <a:xfrm>
            <a:off x="6839712" y="3273552"/>
            <a:ext cx="2011680" cy="219456"/>
          </a:xfrm>
          <a:prstGeom prst="rect">
            <a:avLst/>
          </a:prstGeom>
          <a:noFill/>
          <a:ln/>
        </p:spPr>
        <p:txBody>
          <a:bodyPr wrap="square" lIns="0" tIns="0" rIns="0" bIns="0" rtlCol="0" anchor="ctr"/>
          <a:lstStyle/>
          <a:p>
            <a:pPr marL="0" indent="0">
              <a:buNone/>
            </a:pPr>
            <a:r>
              <a:rPr lang="en-US" sz="1300" b="1" dirty="0">
                <a:solidFill>
                  <a:srgbClr val="78B255"/>
                </a:solidFill>
              </a:rPr>
              <a:t>High-level flow</a:t>
            </a:r>
            <a:endParaRPr lang="en-US" sz="1300" dirty="0"/>
          </a:p>
        </p:txBody>
      </p:sp>
      <p:sp>
        <p:nvSpPr>
          <p:cNvPr id="24" name="Text 21"/>
          <p:cNvSpPr/>
          <p:nvPr/>
        </p:nvSpPr>
        <p:spPr>
          <a:xfrm>
            <a:off x="6922008" y="3639312"/>
            <a:ext cx="3886200" cy="1225296"/>
          </a:xfrm>
          <a:prstGeom prst="rect">
            <a:avLst/>
          </a:prstGeom>
          <a:noFill/>
          <a:ln/>
        </p:spPr>
        <p:txBody>
          <a:bodyPr wrap="square" lIns="254" tIns="254" rIns="254" bIns="254" rtlCol="0" anchor="ctr">
            <a:normAutofit/>
          </a:bodyPr>
          <a:lstStyle/>
          <a:p>
            <a:r>
              <a:rPr lang="en-US" sz="1050" dirty="0">
                <a:solidFill>
                  <a:srgbClr val="F4EFE3"/>
                </a:solidFill>
              </a:rPr>
              <a:t>User selects mode, side, bot and time control</a:t>
            </a:r>
            <a:endParaRPr lang="en-US" sz="1050" dirty="0"/>
          </a:p>
          <a:p>
            <a:r>
              <a:rPr lang="en-US" sz="1050" dirty="0">
                <a:solidFill>
                  <a:srgbClr val="F4EFE3"/>
                </a:solidFill>
              </a:rPr>
              <a:t>UI sends moves to GameState for validation</a:t>
            </a:r>
            <a:endParaRPr lang="en-US" sz="1050" dirty="0"/>
          </a:p>
          <a:p>
            <a:r>
              <a:rPr lang="en-US" sz="1050" dirty="0">
                <a:solidFill>
                  <a:srgbClr val="F4EFE3"/>
                </a:solidFill>
              </a:rPr>
              <a:t>AI/Stockfish modules provide bot move or review data</a:t>
            </a:r>
            <a:endParaRPr lang="en-US" sz="1050" dirty="0"/>
          </a:p>
          <a:p>
            <a:r>
              <a:rPr lang="en-US" sz="1050" dirty="0">
                <a:solidFill>
                  <a:srgbClr val="F4EFE3"/>
                </a:solidFill>
              </a:rPr>
              <a:t>GameSession preserves state between tabs and review screens</a:t>
            </a:r>
            <a:endParaRPr lang="en-US" sz="1050" dirty="0"/>
          </a:p>
        </p:txBody>
      </p:sp>
      <p:sp>
        <p:nvSpPr>
          <p:cNvPr id="25" name="Text 22"/>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Code Quality &amp; Design Alignment</a:t>
            </a:r>
            <a:endParaRPr lang="en-US" sz="2350" dirty="0"/>
          </a:p>
        </p:txBody>
      </p:sp>
      <p:sp>
        <p:nvSpPr>
          <p:cNvPr id="4" name="Shape 2"/>
          <p:cNvSpPr/>
          <p:nvPr/>
        </p:nvSpPr>
        <p:spPr>
          <a:xfrm>
            <a:off x="649224" y="1170432"/>
            <a:ext cx="5468112" cy="4233672"/>
          </a:xfrm>
          <a:prstGeom prst="roundRect">
            <a:avLst>
              <a:gd name="adj" fmla="val 1728"/>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7).png"/>
          <p:cNvPicPr>
            <a:picLocks noChangeAspect="1"/>
          </p:cNvPicPr>
          <p:nvPr/>
        </p:nvPicPr>
        <p:blipFill>
          <a:blip r:embed="rId3"/>
          <a:srcRect l="15167" r="15167"/>
          <a:stretch/>
        </p:blipFill>
        <p:spPr>
          <a:xfrm>
            <a:off x="685800" y="1207008"/>
            <a:ext cx="5394960" cy="4160520"/>
          </a:xfrm>
          <a:prstGeom prst="rect">
            <a:avLst/>
          </a:prstGeom>
        </p:spPr>
      </p:pic>
      <p:sp>
        <p:nvSpPr>
          <p:cNvPr id="6" name="Shape 3"/>
          <p:cNvSpPr/>
          <p:nvPr/>
        </p:nvSpPr>
        <p:spPr>
          <a:xfrm>
            <a:off x="6400800" y="1234440"/>
            <a:ext cx="4892040" cy="4069080"/>
          </a:xfrm>
          <a:prstGeom prst="roundRect">
            <a:avLst>
              <a:gd name="adj" fmla="val 1798"/>
            </a:avLst>
          </a:prstGeom>
          <a:solidFill>
            <a:srgbClr val="172017"/>
          </a:solidFill>
          <a:ln w="8890">
            <a:solidFill>
              <a:srgbClr val="F4A025">
                <a:alpha val="80000"/>
              </a:srgbClr>
            </a:solidFill>
            <a:prstDash val="solid"/>
          </a:ln>
        </p:spPr>
        <p:txBody>
          <a:bodyPr/>
          <a:lstStyle/>
          <a:p>
            <a:endParaRPr lang="en-AU"/>
          </a:p>
        </p:txBody>
      </p:sp>
      <p:sp>
        <p:nvSpPr>
          <p:cNvPr id="7" name="Text 4"/>
          <p:cNvSpPr/>
          <p:nvPr/>
        </p:nvSpPr>
        <p:spPr>
          <a:xfrm>
            <a:off x="6675120" y="1508760"/>
            <a:ext cx="3840480" cy="274320"/>
          </a:xfrm>
          <a:prstGeom prst="rect">
            <a:avLst/>
          </a:prstGeom>
          <a:noFill/>
          <a:ln/>
        </p:spPr>
        <p:txBody>
          <a:bodyPr wrap="square" lIns="0" tIns="0" rIns="0" bIns="0" rtlCol="0" anchor="ctr"/>
          <a:lstStyle/>
          <a:p>
            <a:pPr marL="0" indent="0">
              <a:buNone/>
            </a:pPr>
            <a:r>
              <a:rPr lang="en-US" sz="1600" b="1" dirty="0">
                <a:solidFill>
                  <a:srgbClr val="F4A025"/>
                </a:solidFill>
              </a:rPr>
              <a:t>Evidence of standardised code</a:t>
            </a:r>
            <a:endParaRPr lang="en-US" sz="1600" dirty="0"/>
          </a:p>
        </p:txBody>
      </p:sp>
      <p:sp>
        <p:nvSpPr>
          <p:cNvPr id="8" name="Text 5"/>
          <p:cNvSpPr/>
          <p:nvPr/>
        </p:nvSpPr>
        <p:spPr>
          <a:xfrm>
            <a:off x="6748272" y="1993392"/>
            <a:ext cx="4069080" cy="1828800"/>
          </a:xfrm>
          <a:prstGeom prst="rect">
            <a:avLst/>
          </a:prstGeom>
          <a:noFill/>
          <a:ln/>
        </p:spPr>
        <p:txBody>
          <a:bodyPr wrap="square" lIns="254" tIns="254" rIns="254" bIns="254" rtlCol="0" anchor="ctr">
            <a:normAutofit/>
          </a:bodyPr>
          <a:lstStyle/>
          <a:p>
            <a:r>
              <a:rPr lang="en-US" sz="1200" dirty="0">
                <a:solidFill>
                  <a:srgbClr val="F4EFE3"/>
                </a:solidFill>
              </a:rPr>
              <a:t>Meaningful class/function names</a:t>
            </a:r>
            <a:endParaRPr lang="en-US" sz="1200" dirty="0"/>
          </a:p>
          <a:p>
            <a:r>
              <a:rPr lang="en-US" sz="1200" dirty="0">
                <a:solidFill>
                  <a:srgbClr val="F4EFE3"/>
                </a:solidFill>
              </a:rPr>
              <a:t>Docstrings and inline comments explaining purpose</a:t>
            </a:r>
            <a:endParaRPr lang="en-US" sz="1200" dirty="0"/>
          </a:p>
          <a:p>
            <a:r>
              <a:rPr lang="en-US" sz="1200" dirty="0">
                <a:solidFill>
                  <a:srgbClr val="F4EFE3"/>
                </a:solidFill>
              </a:rPr>
              <a:t>Separate modules for engine, UI, AI, review and I/O</a:t>
            </a:r>
            <a:endParaRPr lang="en-US" sz="1200" dirty="0"/>
          </a:p>
          <a:p>
            <a:r>
              <a:rPr lang="en-US" sz="1200" dirty="0">
                <a:solidFill>
                  <a:srgbClr val="F4EFE3"/>
                </a:solidFill>
              </a:rPr>
              <a:t>Defensive checks around external files and Stockfish</a:t>
            </a:r>
            <a:endParaRPr lang="en-US" sz="1200" dirty="0"/>
          </a:p>
          <a:p>
            <a:r>
              <a:rPr lang="en-US" sz="1200" dirty="0">
                <a:solidFill>
                  <a:srgbClr val="F4EFE3"/>
                </a:solidFill>
              </a:rPr>
              <a:t>PEP 8-style indentation and readable control flow</a:t>
            </a:r>
            <a:endParaRPr lang="en-US" sz="1200" dirty="0"/>
          </a:p>
        </p:txBody>
      </p:sp>
      <p:sp>
        <p:nvSpPr>
          <p:cNvPr id="9" name="Text 6"/>
          <p:cNvSpPr/>
          <p:nvPr/>
        </p:nvSpPr>
        <p:spPr>
          <a:xfrm>
            <a:off x="6675120" y="4343400"/>
            <a:ext cx="2377440" cy="201168"/>
          </a:xfrm>
          <a:prstGeom prst="rect">
            <a:avLst/>
          </a:prstGeom>
          <a:noFill/>
          <a:ln/>
        </p:spPr>
        <p:txBody>
          <a:bodyPr wrap="square" lIns="0" tIns="0" rIns="0" bIns="0" rtlCol="0" anchor="ctr"/>
          <a:lstStyle/>
          <a:p>
            <a:pPr marL="0" indent="0">
              <a:buNone/>
            </a:pPr>
            <a:r>
              <a:rPr lang="en-US" sz="1200" b="1" dirty="0">
                <a:solidFill>
                  <a:srgbClr val="78B255"/>
                </a:solidFill>
              </a:rPr>
              <a:t>Why this matters</a:t>
            </a:r>
            <a:endParaRPr lang="en-US" sz="1200" dirty="0"/>
          </a:p>
        </p:txBody>
      </p:sp>
      <p:sp>
        <p:nvSpPr>
          <p:cNvPr id="10" name="Text 7"/>
          <p:cNvSpPr/>
          <p:nvPr/>
        </p:nvSpPr>
        <p:spPr>
          <a:xfrm>
            <a:off x="6675120" y="4672584"/>
            <a:ext cx="4069080" cy="310896"/>
          </a:xfrm>
          <a:prstGeom prst="rect">
            <a:avLst/>
          </a:prstGeom>
          <a:noFill/>
          <a:ln/>
        </p:spPr>
        <p:txBody>
          <a:bodyPr wrap="square" lIns="0" tIns="0" rIns="0" bIns="0" rtlCol="0" anchor="ctr">
            <a:normAutofit/>
          </a:bodyPr>
          <a:lstStyle/>
          <a:p>
            <a:pPr marL="0" indent="0">
              <a:buNone/>
            </a:pPr>
            <a:r>
              <a:rPr lang="en-US" sz="980" dirty="0">
                <a:solidFill>
                  <a:srgbClr val="F4EFE3"/>
                </a:solidFill>
              </a:rPr>
              <a:t>The app can be extended without rewriting the engine. UI changes, bot tuning and review improvements are isolated from legal move generation.</a:t>
            </a:r>
            <a:endParaRPr lang="en-US" sz="980" dirty="0"/>
          </a:p>
        </p:txBody>
      </p:sp>
      <p:sp>
        <p:nvSpPr>
          <p:cNvPr id="11" name="Text 8"/>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Core Gameplay Features</a:t>
            </a:r>
            <a:endParaRPr lang="en-US" sz="2350" dirty="0"/>
          </a:p>
        </p:txBody>
      </p:sp>
      <p:sp>
        <p:nvSpPr>
          <p:cNvPr id="4" name="Shape 2"/>
          <p:cNvSpPr/>
          <p:nvPr/>
        </p:nvSpPr>
        <p:spPr>
          <a:xfrm>
            <a:off x="603504" y="987552"/>
            <a:ext cx="5696712" cy="4507992"/>
          </a:xfrm>
          <a:prstGeom prst="roundRect">
            <a:avLst>
              <a:gd name="adj" fmla="val 1623"/>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37).png"/>
          <p:cNvPicPr>
            <a:picLocks noChangeAspect="1"/>
          </p:cNvPicPr>
          <p:nvPr/>
        </p:nvPicPr>
        <p:blipFill>
          <a:blip r:embed="rId3"/>
          <a:srcRect l="13035" r="13035"/>
          <a:stretch/>
        </p:blipFill>
        <p:spPr>
          <a:xfrm>
            <a:off x="640080" y="1024128"/>
            <a:ext cx="5623560" cy="4434840"/>
          </a:xfrm>
          <a:prstGeom prst="rect">
            <a:avLst/>
          </a:prstGeom>
        </p:spPr>
      </p:pic>
      <p:sp>
        <p:nvSpPr>
          <p:cNvPr id="6" name="Shape 3"/>
          <p:cNvSpPr/>
          <p:nvPr/>
        </p:nvSpPr>
        <p:spPr>
          <a:xfrm>
            <a:off x="6638544" y="1261872"/>
            <a:ext cx="4370832" cy="1810512"/>
          </a:xfrm>
          <a:prstGeom prst="roundRect">
            <a:avLst>
              <a:gd name="adj" fmla="val 4040"/>
            </a:avLst>
          </a:prstGeom>
          <a:solidFill>
            <a:srgbClr val="0B0F0C"/>
          </a:solidFill>
          <a:ln w="8890">
            <a:solidFill>
              <a:srgbClr val="2E402D">
                <a:alpha val="90000"/>
              </a:srgbClr>
            </a:solidFill>
            <a:prstDash val="solid"/>
          </a:ln>
        </p:spPr>
        <p:txBody>
          <a:bodyPr/>
          <a:lstStyle/>
          <a:p>
            <a:endParaRPr lang="en-AU"/>
          </a:p>
        </p:txBody>
      </p:sp>
      <p:pic>
        <p:nvPicPr>
          <p:cNvPr id="7" name="Image 1" descr="/mnt/data/image(249).png"/>
          <p:cNvPicPr>
            <a:picLocks noChangeAspect="1"/>
          </p:cNvPicPr>
          <p:nvPr/>
        </p:nvPicPr>
        <p:blipFill>
          <a:blip r:embed="rId4"/>
          <a:stretch>
            <a:fillRect/>
          </a:stretch>
        </p:blipFill>
        <p:spPr>
          <a:xfrm>
            <a:off x="6675120" y="1309563"/>
            <a:ext cx="4297680" cy="1715129"/>
          </a:xfrm>
          <a:prstGeom prst="rect">
            <a:avLst/>
          </a:prstGeom>
        </p:spPr>
      </p:pic>
      <p:sp>
        <p:nvSpPr>
          <p:cNvPr id="8" name="Shape 4"/>
          <p:cNvSpPr/>
          <p:nvPr/>
        </p:nvSpPr>
        <p:spPr>
          <a:xfrm>
            <a:off x="6638544" y="3621024"/>
            <a:ext cx="4370832" cy="1536192"/>
          </a:xfrm>
          <a:prstGeom prst="roundRect">
            <a:avLst>
              <a:gd name="adj" fmla="val 4762"/>
            </a:avLst>
          </a:prstGeom>
          <a:solidFill>
            <a:srgbClr val="0B0F0C"/>
          </a:solidFill>
          <a:ln w="8890">
            <a:solidFill>
              <a:srgbClr val="2E402D">
                <a:alpha val="90000"/>
              </a:srgbClr>
            </a:solidFill>
            <a:prstDash val="solid"/>
          </a:ln>
        </p:spPr>
        <p:txBody>
          <a:bodyPr/>
          <a:lstStyle/>
          <a:p>
            <a:endParaRPr lang="en-AU"/>
          </a:p>
        </p:txBody>
      </p:sp>
      <p:pic>
        <p:nvPicPr>
          <p:cNvPr id="9" name="Image 2" descr="/mnt/data/image(248).png"/>
          <p:cNvPicPr>
            <a:picLocks noChangeAspect="1"/>
          </p:cNvPicPr>
          <p:nvPr/>
        </p:nvPicPr>
        <p:blipFill>
          <a:blip r:embed="rId5"/>
          <a:srcRect t="6309" b="6309"/>
          <a:stretch/>
        </p:blipFill>
        <p:spPr>
          <a:xfrm>
            <a:off x="6675120" y="3657600"/>
            <a:ext cx="4297680" cy="1463040"/>
          </a:xfrm>
          <a:prstGeom prst="rect">
            <a:avLst/>
          </a:prstGeom>
        </p:spPr>
      </p:pic>
      <p:sp>
        <p:nvSpPr>
          <p:cNvPr id="10" name="Text 5"/>
          <p:cNvSpPr/>
          <p:nvPr/>
        </p:nvSpPr>
        <p:spPr>
          <a:xfrm>
            <a:off x="777240" y="5715000"/>
            <a:ext cx="5120640" cy="237744"/>
          </a:xfrm>
          <a:prstGeom prst="rect">
            <a:avLst/>
          </a:prstGeom>
          <a:noFill/>
          <a:ln/>
        </p:spPr>
        <p:txBody>
          <a:bodyPr wrap="square" lIns="0" tIns="0" rIns="0" bIns="0" rtlCol="0" anchor="ctr"/>
          <a:lstStyle/>
          <a:p>
            <a:pPr marL="0" indent="0">
              <a:buNone/>
            </a:pPr>
            <a:r>
              <a:rPr lang="en-US" sz="1350" b="1" dirty="0">
                <a:solidFill>
                  <a:srgbClr val="78B255"/>
                </a:solidFill>
              </a:rPr>
              <a:t>Complete chess rule handling</a:t>
            </a:r>
            <a:endParaRPr lang="en-US" sz="1350" dirty="0"/>
          </a:p>
        </p:txBody>
      </p:sp>
      <p:sp>
        <p:nvSpPr>
          <p:cNvPr id="11" name="Shape 6"/>
          <p:cNvSpPr/>
          <p:nvPr/>
        </p:nvSpPr>
        <p:spPr>
          <a:xfrm>
            <a:off x="6565392" y="5559552"/>
            <a:ext cx="1188720" cy="256032"/>
          </a:xfrm>
          <a:prstGeom prst="roundRect">
            <a:avLst>
              <a:gd name="adj" fmla="val 17857"/>
            </a:avLst>
          </a:prstGeom>
          <a:solidFill>
            <a:srgbClr val="78B255">
              <a:alpha val="90000"/>
            </a:srgbClr>
          </a:solidFill>
          <a:ln w="12700">
            <a:solidFill>
              <a:srgbClr val="78B255">
                <a:alpha val="90000"/>
              </a:srgbClr>
            </a:solidFill>
            <a:prstDash val="solid"/>
          </a:ln>
        </p:spPr>
        <p:txBody>
          <a:bodyPr/>
          <a:lstStyle/>
          <a:p>
            <a:endParaRPr lang="en-AU"/>
          </a:p>
        </p:txBody>
      </p:sp>
      <p:sp>
        <p:nvSpPr>
          <p:cNvPr id="12" name="Text 7"/>
          <p:cNvSpPr/>
          <p:nvPr/>
        </p:nvSpPr>
        <p:spPr>
          <a:xfrm>
            <a:off x="6638544" y="5623560"/>
            <a:ext cx="1042416" cy="109728"/>
          </a:xfrm>
          <a:prstGeom prst="rect">
            <a:avLst/>
          </a:prstGeom>
          <a:noFill/>
          <a:ln/>
        </p:spPr>
        <p:txBody>
          <a:bodyPr wrap="square" lIns="0" tIns="0" rIns="0" bIns="0" rtlCol="0" anchor="ctr"/>
          <a:lstStyle/>
          <a:p>
            <a:pPr marL="0" indent="0" algn="ctr">
              <a:buNone/>
            </a:pPr>
            <a:r>
              <a:rPr lang="en-US" sz="680" b="1" dirty="0">
                <a:solidFill>
                  <a:srgbClr val="FFFFFF"/>
                </a:solidFill>
              </a:rPr>
              <a:t>Legal moves</a:t>
            </a:r>
            <a:endParaRPr lang="en-US" sz="680" dirty="0"/>
          </a:p>
        </p:txBody>
      </p:sp>
      <p:sp>
        <p:nvSpPr>
          <p:cNvPr id="13" name="Shape 8"/>
          <p:cNvSpPr/>
          <p:nvPr/>
        </p:nvSpPr>
        <p:spPr>
          <a:xfrm>
            <a:off x="7882128" y="5559552"/>
            <a:ext cx="914400" cy="256032"/>
          </a:xfrm>
          <a:prstGeom prst="roundRect">
            <a:avLst>
              <a:gd name="adj" fmla="val 17857"/>
            </a:avLst>
          </a:prstGeom>
          <a:solidFill>
            <a:srgbClr val="F4A025">
              <a:alpha val="90000"/>
            </a:srgbClr>
          </a:solidFill>
          <a:ln w="12700">
            <a:solidFill>
              <a:srgbClr val="F4A025">
                <a:alpha val="90000"/>
              </a:srgbClr>
            </a:solidFill>
            <a:prstDash val="solid"/>
          </a:ln>
        </p:spPr>
        <p:txBody>
          <a:bodyPr/>
          <a:lstStyle/>
          <a:p>
            <a:endParaRPr lang="en-AU"/>
          </a:p>
        </p:txBody>
      </p:sp>
      <p:sp>
        <p:nvSpPr>
          <p:cNvPr id="14" name="Text 9"/>
          <p:cNvSpPr/>
          <p:nvPr/>
        </p:nvSpPr>
        <p:spPr>
          <a:xfrm>
            <a:off x="7955280" y="5623560"/>
            <a:ext cx="768096" cy="109728"/>
          </a:xfrm>
          <a:prstGeom prst="rect">
            <a:avLst/>
          </a:prstGeom>
          <a:noFill/>
          <a:ln/>
        </p:spPr>
        <p:txBody>
          <a:bodyPr wrap="square" lIns="0" tIns="0" rIns="0" bIns="0" rtlCol="0" anchor="ctr"/>
          <a:lstStyle/>
          <a:p>
            <a:pPr marL="0" indent="0" algn="ctr">
              <a:buNone/>
            </a:pPr>
            <a:r>
              <a:rPr lang="en-US" sz="680" b="1" dirty="0">
                <a:solidFill>
                  <a:srgbClr val="FFFFFF"/>
                </a:solidFill>
              </a:rPr>
              <a:t>Castling</a:t>
            </a:r>
            <a:endParaRPr lang="en-US" sz="680" dirty="0"/>
          </a:p>
        </p:txBody>
      </p:sp>
      <p:sp>
        <p:nvSpPr>
          <p:cNvPr id="15" name="Shape 10"/>
          <p:cNvSpPr/>
          <p:nvPr/>
        </p:nvSpPr>
        <p:spPr>
          <a:xfrm>
            <a:off x="8924544" y="5559552"/>
            <a:ext cx="1097280" cy="256032"/>
          </a:xfrm>
          <a:prstGeom prst="roundRect">
            <a:avLst>
              <a:gd name="adj" fmla="val 17857"/>
            </a:avLst>
          </a:prstGeom>
          <a:solidFill>
            <a:srgbClr val="9E68FF">
              <a:alpha val="90000"/>
            </a:srgbClr>
          </a:solidFill>
          <a:ln w="12700">
            <a:solidFill>
              <a:srgbClr val="9E68FF">
                <a:alpha val="90000"/>
              </a:srgbClr>
            </a:solidFill>
            <a:prstDash val="solid"/>
          </a:ln>
        </p:spPr>
        <p:txBody>
          <a:bodyPr/>
          <a:lstStyle/>
          <a:p>
            <a:endParaRPr lang="en-AU"/>
          </a:p>
        </p:txBody>
      </p:sp>
      <p:sp>
        <p:nvSpPr>
          <p:cNvPr id="16" name="Text 11"/>
          <p:cNvSpPr/>
          <p:nvPr/>
        </p:nvSpPr>
        <p:spPr>
          <a:xfrm>
            <a:off x="8997696" y="5623560"/>
            <a:ext cx="950976" cy="109728"/>
          </a:xfrm>
          <a:prstGeom prst="rect">
            <a:avLst/>
          </a:prstGeom>
          <a:noFill/>
          <a:ln/>
        </p:spPr>
        <p:txBody>
          <a:bodyPr wrap="square" lIns="0" tIns="0" rIns="0" bIns="0" rtlCol="0" anchor="ctr"/>
          <a:lstStyle/>
          <a:p>
            <a:pPr marL="0" indent="0" algn="ctr">
              <a:buNone/>
            </a:pPr>
            <a:r>
              <a:rPr lang="en-US" sz="680" b="1" dirty="0">
                <a:solidFill>
                  <a:srgbClr val="FFFFFF"/>
                </a:solidFill>
              </a:rPr>
              <a:t>En passant</a:t>
            </a:r>
            <a:endParaRPr lang="en-US" sz="680" dirty="0"/>
          </a:p>
        </p:txBody>
      </p:sp>
      <p:sp>
        <p:nvSpPr>
          <p:cNvPr id="17" name="Shape 12"/>
          <p:cNvSpPr/>
          <p:nvPr/>
        </p:nvSpPr>
        <p:spPr>
          <a:xfrm>
            <a:off x="10149840" y="5559552"/>
            <a:ext cx="1005840" cy="256032"/>
          </a:xfrm>
          <a:prstGeom prst="roundRect">
            <a:avLst>
              <a:gd name="adj" fmla="val 17857"/>
            </a:avLst>
          </a:prstGeom>
          <a:solidFill>
            <a:srgbClr val="4FC3F7">
              <a:alpha val="90000"/>
            </a:srgbClr>
          </a:solidFill>
          <a:ln w="12700">
            <a:solidFill>
              <a:srgbClr val="4FC3F7">
                <a:alpha val="90000"/>
              </a:srgbClr>
            </a:solidFill>
            <a:prstDash val="solid"/>
          </a:ln>
        </p:spPr>
        <p:txBody>
          <a:bodyPr/>
          <a:lstStyle/>
          <a:p>
            <a:endParaRPr lang="en-AU"/>
          </a:p>
        </p:txBody>
      </p:sp>
      <p:sp>
        <p:nvSpPr>
          <p:cNvPr id="18" name="Text 13"/>
          <p:cNvSpPr/>
          <p:nvPr/>
        </p:nvSpPr>
        <p:spPr>
          <a:xfrm>
            <a:off x="10222992" y="5623560"/>
            <a:ext cx="859536" cy="109728"/>
          </a:xfrm>
          <a:prstGeom prst="rect">
            <a:avLst/>
          </a:prstGeom>
          <a:noFill/>
          <a:ln/>
        </p:spPr>
        <p:txBody>
          <a:bodyPr wrap="square" lIns="0" tIns="0" rIns="0" bIns="0" rtlCol="0" anchor="ctr"/>
          <a:lstStyle/>
          <a:p>
            <a:pPr marL="0" indent="0" algn="ctr">
              <a:buNone/>
            </a:pPr>
            <a:r>
              <a:rPr lang="en-US" sz="680" b="1" dirty="0">
                <a:solidFill>
                  <a:srgbClr val="FFFFFF"/>
                </a:solidFill>
              </a:rPr>
              <a:t>Promotion</a:t>
            </a:r>
            <a:endParaRPr lang="en-US" sz="680" dirty="0"/>
          </a:p>
        </p:txBody>
      </p:sp>
      <p:sp>
        <p:nvSpPr>
          <p:cNvPr id="19" name="Shape 14"/>
          <p:cNvSpPr/>
          <p:nvPr/>
        </p:nvSpPr>
        <p:spPr>
          <a:xfrm>
            <a:off x="6565392" y="5925312"/>
            <a:ext cx="1115568" cy="256032"/>
          </a:xfrm>
          <a:prstGeom prst="roundRect">
            <a:avLst>
              <a:gd name="adj" fmla="val 17857"/>
            </a:avLst>
          </a:prstGeom>
          <a:solidFill>
            <a:srgbClr val="F05D5E">
              <a:alpha val="90000"/>
            </a:srgbClr>
          </a:solidFill>
          <a:ln w="12700">
            <a:solidFill>
              <a:srgbClr val="F05D5E">
                <a:alpha val="90000"/>
              </a:srgbClr>
            </a:solidFill>
            <a:prstDash val="solid"/>
          </a:ln>
        </p:spPr>
        <p:txBody>
          <a:bodyPr/>
          <a:lstStyle/>
          <a:p>
            <a:endParaRPr lang="en-AU"/>
          </a:p>
        </p:txBody>
      </p:sp>
      <p:sp>
        <p:nvSpPr>
          <p:cNvPr id="20" name="Text 15"/>
          <p:cNvSpPr/>
          <p:nvPr/>
        </p:nvSpPr>
        <p:spPr>
          <a:xfrm>
            <a:off x="6638544" y="5989320"/>
            <a:ext cx="969264" cy="109728"/>
          </a:xfrm>
          <a:prstGeom prst="rect">
            <a:avLst/>
          </a:prstGeom>
          <a:noFill/>
          <a:ln/>
        </p:spPr>
        <p:txBody>
          <a:bodyPr wrap="square" lIns="0" tIns="0" rIns="0" bIns="0" rtlCol="0" anchor="ctr"/>
          <a:lstStyle/>
          <a:p>
            <a:pPr marL="0" indent="0" algn="ctr">
              <a:buNone/>
            </a:pPr>
            <a:r>
              <a:rPr lang="en-US" sz="680" b="1" dirty="0">
                <a:solidFill>
                  <a:srgbClr val="FFFFFF"/>
                </a:solidFill>
              </a:rPr>
              <a:t>Checkmate</a:t>
            </a:r>
            <a:endParaRPr lang="en-US" sz="680" dirty="0"/>
          </a:p>
        </p:txBody>
      </p:sp>
      <p:sp>
        <p:nvSpPr>
          <p:cNvPr id="21" name="Shape 16"/>
          <p:cNvSpPr/>
          <p:nvPr/>
        </p:nvSpPr>
        <p:spPr>
          <a:xfrm>
            <a:off x="7818120" y="5925312"/>
            <a:ext cx="987552" cy="256032"/>
          </a:xfrm>
          <a:prstGeom prst="roundRect">
            <a:avLst>
              <a:gd name="adj" fmla="val 17857"/>
            </a:avLst>
          </a:prstGeom>
          <a:solidFill>
            <a:srgbClr val="5B8C43">
              <a:alpha val="90000"/>
            </a:srgbClr>
          </a:solidFill>
          <a:ln w="12700">
            <a:solidFill>
              <a:srgbClr val="5B8C43">
                <a:alpha val="90000"/>
              </a:srgbClr>
            </a:solidFill>
            <a:prstDash val="solid"/>
          </a:ln>
        </p:spPr>
        <p:txBody>
          <a:bodyPr/>
          <a:lstStyle/>
          <a:p>
            <a:endParaRPr lang="en-AU"/>
          </a:p>
        </p:txBody>
      </p:sp>
      <p:sp>
        <p:nvSpPr>
          <p:cNvPr id="22" name="Text 17"/>
          <p:cNvSpPr/>
          <p:nvPr/>
        </p:nvSpPr>
        <p:spPr>
          <a:xfrm>
            <a:off x="7891272" y="5989320"/>
            <a:ext cx="841248" cy="109728"/>
          </a:xfrm>
          <a:prstGeom prst="rect">
            <a:avLst/>
          </a:prstGeom>
          <a:noFill/>
          <a:ln/>
        </p:spPr>
        <p:txBody>
          <a:bodyPr wrap="square" lIns="0" tIns="0" rIns="0" bIns="0" rtlCol="0" anchor="ctr"/>
          <a:lstStyle/>
          <a:p>
            <a:pPr marL="0" indent="0" algn="ctr">
              <a:buNone/>
            </a:pPr>
            <a:r>
              <a:rPr lang="en-US" sz="680" b="1" dirty="0">
                <a:solidFill>
                  <a:srgbClr val="FFFFFF"/>
                </a:solidFill>
              </a:rPr>
              <a:t>Premove</a:t>
            </a:r>
            <a:endParaRPr lang="en-US" sz="680" dirty="0"/>
          </a:p>
        </p:txBody>
      </p:sp>
      <p:sp>
        <p:nvSpPr>
          <p:cNvPr id="23" name="Shape 18"/>
          <p:cNvSpPr/>
          <p:nvPr/>
        </p:nvSpPr>
        <p:spPr>
          <a:xfrm>
            <a:off x="8942832" y="5925312"/>
            <a:ext cx="822960" cy="256032"/>
          </a:xfrm>
          <a:prstGeom prst="roundRect">
            <a:avLst>
              <a:gd name="adj" fmla="val 17857"/>
            </a:avLst>
          </a:prstGeom>
          <a:solidFill>
            <a:srgbClr val="D98316">
              <a:alpha val="90000"/>
            </a:srgbClr>
          </a:solidFill>
          <a:ln w="12700">
            <a:solidFill>
              <a:srgbClr val="D98316">
                <a:alpha val="90000"/>
              </a:srgbClr>
            </a:solidFill>
            <a:prstDash val="solid"/>
          </a:ln>
        </p:spPr>
        <p:txBody>
          <a:bodyPr/>
          <a:lstStyle/>
          <a:p>
            <a:endParaRPr lang="en-AU"/>
          </a:p>
        </p:txBody>
      </p:sp>
      <p:sp>
        <p:nvSpPr>
          <p:cNvPr id="24" name="Text 19"/>
          <p:cNvSpPr/>
          <p:nvPr/>
        </p:nvSpPr>
        <p:spPr>
          <a:xfrm>
            <a:off x="9015984" y="5989320"/>
            <a:ext cx="676656" cy="109728"/>
          </a:xfrm>
          <a:prstGeom prst="rect">
            <a:avLst/>
          </a:prstGeom>
          <a:noFill/>
          <a:ln/>
        </p:spPr>
        <p:txBody>
          <a:bodyPr wrap="square" lIns="0" tIns="0" rIns="0" bIns="0" rtlCol="0" anchor="ctr"/>
          <a:lstStyle/>
          <a:p>
            <a:pPr marL="0" indent="0" algn="ctr">
              <a:buNone/>
            </a:pPr>
            <a:r>
              <a:rPr lang="en-US" sz="680" b="1" dirty="0">
                <a:solidFill>
                  <a:srgbClr val="FFFFFF"/>
                </a:solidFill>
              </a:rPr>
              <a:t>Arrows</a:t>
            </a:r>
            <a:endParaRPr lang="en-US" sz="680" dirty="0"/>
          </a:p>
        </p:txBody>
      </p:sp>
      <p:sp>
        <p:nvSpPr>
          <p:cNvPr id="25" name="Shape 20"/>
          <p:cNvSpPr/>
          <p:nvPr/>
        </p:nvSpPr>
        <p:spPr>
          <a:xfrm>
            <a:off x="9902952" y="5925312"/>
            <a:ext cx="841248" cy="256032"/>
          </a:xfrm>
          <a:prstGeom prst="roundRect">
            <a:avLst>
              <a:gd name="adj" fmla="val 17857"/>
            </a:avLst>
          </a:prstGeom>
          <a:solidFill>
            <a:srgbClr val="4FC3F7">
              <a:alpha val="90000"/>
            </a:srgbClr>
          </a:solidFill>
          <a:ln w="12700">
            <a:solidFill>
              <a:srgbClr val="4FC3F7">
                <a:alpha val="90000"/>
              </a:srgbClr>
            </a:solidFill>
            <a:prstDash val="solid"/>
          </a:ln>
        </p:spPr>
        <p:txBody>
          <a:bodyPr/>
          <a:lstStyle/>
          <a:p>
            <a:endParaRPr lang="en-AU"/>
          </a:p>
        </p:txBody>
      </p:sp>
      <p:sp>
        <p:nvSpPr>
          <p:cNvPr id="26" name="Text 21"/>
          <p:cNvSpPr/>
          <p:nvPr/>
        </p:nvSpPr>
        <p:spPr>
          <a:xfrm>
            <a:off x="9976104" y="5989320"/>
            <a:ext cx="694944" cy="109728"/>
          </a:xfrm>
          <a:prstGeom prst="rect">
            <a:avLst/>
          </a:prstGeom>
          <a:noFill/>
          <a:ln/>
        </p:spPr>
        <p:txBody>
          <a:bodyPr wrap="square" lIns="0" tIns="0" rIns="0" bIns="0" rtlCol="0" anchor="ctr"/>
          <a:lstStyle/>
          <a:p>
            <a:pPr marL="0" indent="0" algn="ctr">
              <a:buNone/>
            </a:pPr>
            <a:r>
              <a:rPr lang="en-US" sz="680" b="1" dirty="0">
                <a:solidFill>
                  <a:srgbClr val="FFFFFF"/>
                </a:solidFill>
              </a:rPr>
              <a:t>Themes</a:t>
            </a:r>
            <a:endParaRPr lang="en-US" sz="680" dirty="0"/>
          </a:p>
        </p:txBody>
      </p:sp>
      <p:sp>
        <p:nvSpPr>
          <p:cNvPr id="27" name="Text 22"/>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Rated Bots &amp; AI Behaviour</a:t>
            </a:r>
            <a:endParaRPr lang="en-US" sz="2350" dirty="0"/>
          </a:p>
        </p:txBody>
      </p:sp>
      <p:sp>
        <p:nvSpPr>
          <p:cNvPr id="4" name="Shape 2"/>
          <p:cNvSpPr/>
          <p:nvPr/>
        </p:nvSpPr>
        <p:spPr>
          <a:xfrm>
            <a:off x="676656" y="1014984"/>
            <a:ext cx="5696712" cy="4297680"/>
          </a:xfrm>
          <a:prstGeom prst="roundRect">
            <a:avLst>
              <a:gd name="adj" fmla="val 1702"/>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39).png"/>
          <p:cNvPicPr>
            <a:picLocks noChangeAspect="1"/>
          </p:cNvPicPr>
          <p:nvPr/>
        </p:nvPicPr>
        <p:blipFill>
          <a:blip r:embed="rId3"/>
          <a:srcRect l="12642" r="12642"/>
          <a:stretch/>
        </p:blipFill>
        <p:spPr>
          <a:xfrm>
            <a:off x="713232" y="1051560"/>
            <a:ext cx="5623560" cy="4224528"/>
          </a:xfrm>
          <a:prstGeom prst="rect">
            <a:avLst/>
          </a:prstGeom>
        </p:spPr>
      </p:pic>
      <p:sp>
        <p:nvSpPr>
          <p:cNvPr id="6" name="Shape 3"/>
          <p:cNvSpPr/>
          <p:nvPr/>
        </p:nvSpPr>
        <p:spPr>
          <a:xfrm>
            <a:off x="6675120" y="1097280"/>
            <a:ext cx="4434840" cy="4114800"/>
          </a:xfrm>
          <a:prstGeom prst="roundRect">
            <a:avLst>
              <a:gd name="adj" fmla="val 1778"/>
            </a:avLst>
          </a:prstGeom>
          <a:solidFill>
            <a:srgbClr val="172017"/>
          </a:solidFill>
          <a:ln w="8890">
            <a:solidFill>
              <a:srgbClr val="9E68FF">
                <a:alpha val="80000"/>
              </a:srgbClr>
            </a:solidFill>
            <a:prstDash val="solid"/>
          </a:ln>
        </p:spPr>
        <p:txBody>
          <a:bodyPr/>
          <a:lstStyle/>
          <a:p>
            <a:endParaRPr lang="en-AU"/>
          </a:p>
        </p:txBody>
      </p:sp>
      <p:sp>
        <p:nvSpPr>
          <p:cNvPr id="7" name="Text 4"/>
          <p:cNvSpPr/>
          <p:nvPr/>
        </p:nvSpPr>
        <p:spPr>
          <a:xfrm>
            <a:off x="6949440" y="1389888"/>
            <a:ext cx="2743200" cy="274320"/>
          </a:xfrm>
          <a:prstGeom prst="rect">
            <a:avLst/>
          </a:prstGeom>
          <a:noFill/>
          <a:ln/>
        </p:spPr>
        <p:txBody>
          <a:bodyPr wrap="square" lIns="0" tIns="0" rIns="0" bIns="0" rtlCol="0" anchor="ctr"/>
          <a:lstStyle/>
          <a:p>
            <a:pPr marL="0" indent="0">
              <a:buNone/>
            </a:pPr>
            <a:r>
              <a:rPr lang="en-US" sz="1700" b="1" dirty="0">
                <a:solidFill>
                  <a:srgbClr val="9E68FF"/>
                </a:solidFill>
              </a:rPr>
              <a:t>Bot rating model</a:t>
            </a:r>
            <a:endParaRPr lang="en-US" sz="1700" dirty="0"/>
          </a:p>
        </p:txBody>
      </p:sp>
      <p:sp>
        <p:nvSpPr>
          <p:cNvPr id="8" name="Text 5"/>
          <p:cNvSpPr/>
          <p:nvPr/>
        </p:nvSpPr>
        <p:spPr>
          <a:xfrm>
            <a:off x="7022592" y="1874520"/>
            <a:ext cx="3611880" cy="1874520"/>
          </a:xfrm>
          <a:prstGeom prst="rect">
            <a:avLst/>
          </a:prstGeom>
          <a:noFill/>
          <a:ln/>
        </p:spPr>
        <p:txBody>
          <a:bodyPr wrap="square" lIns="254" tIns="254" rIns="254" bIns="254" rtlCol="0" anchor="ctr">
            <a:normAutofit/>
          </a:bodyPr>
          <a:lstStyle/>
          <a:p>
            <a:r>
              <a:rPr lang="en-US" sz="1110" dirty="0">
                <a:solidFill>
                  <a:srgbClr val="F4EFE3"/>
                </a:solidFill>
              </a:rPr>
              <a:t>Lower ratings deliberately miss simple tactics</a:t>
            </a:r>
            <a:endParaRPr lang="en-US" sz="1110" dirty="0"/>
          </a:p>
          <a:p>
            <a:r>
              <a:rPr lang="en-US" sz="1110" dirty="0">
                <a:solidFill>
                  <a:srgbClr val="F4EFE3"/>
                </a:solidFill>
              </a:rPr>
              <a:t>Mid ratings use safer openings and basic development</a:t>
            </a:r>
            <a:endParaRPr lang="en-US" sz="1110" dirty="0"/>
          </a:p>
          <a:p>
            <a:r>
              <a:rPr lang="en-US" sz="1110" dirty="0">
                <a:solidFill>
                  <a:srgbClr val="F4EFE3"/>
                </a:solidFill>
              </a:rPr>
              <a:t>Higher ratings search deeper and avoid obvious blunders</a:t>
            </a:r>
            <a:endParaRPr lang="en-US" sz="1110" dirty="0"/>
          </a:p>
          <a:p>
            <a:r>
              <a:rPr lang="en-US" sz="1110" dirty="0">
                <a:solidFill>
                  <a:srgbClr val="F4EFE3"/>
                </a:solidFill>
              </a:rPr>
              <a:t>Stockfish is preferred for high-rated analysis when available</a:t>
            </a:r>
            <a:endParaRPr lang="en-US" sz="1110" dirty="0"/>
          </a:p>
          <a:p>
            <a:r>
              <a:rPr lang="en-US" sz="1110" dirty="0">
                <a:solidFill>
                  <a:srgbClr val="F4EFE3"/>
                </a:solidFill>
              </a:rPr>
              <a:t>Thinking delay is tuned so bots feel less instant and more human</a:t>
            </a:r>
            <a:endParaRPr lang="en-US" sz="1110" dirty="0"/>
          </a:p>
        </p:txBody>
      </p:sp>
      <p:sp>
        <p:nvSpPr>
          <p:cNvPr id="9" name="Text 6"/>
          <p:cNvSpPr/>
          <p:nvPr/>
        </p:nvSpPr>
        <p:spPr>
          <a:xfrm>
            <a:off x="6949440" y="4370832"/>
            <a:ext cx="1737360" cy="201168"/>
          </a:xfrm>
          <a:prstGeom prst="rect">
            <a:avLst/>
          </a:prstGeom>
          <a:noFill/>
          <a:ln/>
        </p:spPr>
        <p:txBody>
          <a:bodyPr wrap="square" lIns="0" tIns="0" rIns="0" bIns="0" rtlCol="0" anchor="ctr"/>
          <a:lstStyle/>
          <a:p>
            <a:pPr marL="0" indent="0">
              <a:buNone/>
            </a:pPr>
            <a:r>
              <a:rPr lang="en-US" sz="1200" b="1" dirty="0">
                <a:solidFill>
                  <a:srgbClr val="F4A025"/>
                </a:solidFill>
              </a:rPr>
              <a:t>User value</a:t>
            </a:r>
            <a:endParaRPr lang="en-US" sz="1200" dirty="0"/>
          </a:p>
        </p:txBody>
      </p:sp>
      <p:sp>
        <p:nvSpPr>
          <p:cNvPr id="10" name="Text 7"/>
          <p:cNvSpPr/>
          <p:nvPr/>
        </p:nvSpPr>
        <p:spPr>
          <a:xfrm>
            <a:off x="6949440" y="4681728"/>
            <a:ext cx="3611880" cy="301752"/>
          </a:xfrm>
          <a:prstGeom prst="rect">
            <a:avLst/>
          </a:prstGeom>
          <a:noFill/>
          <a:ln/>
        </p:spPr>
        <p:txBody>
          <a:bodyPr wrap="square" lIns="0" tIns="0" rIns="0" bIns="0" rtlCol="0" anchor="ctr">
            <a:normAutofit/>
          </a:bodyPr>
          <a:lstStyle/>
          <a:p>
            <a:pPr marL="0" indent="0">
              <a:buNone/>
            </a:pPr>
            <a:r>
              <a:rPr lang="en-US" sz="970" dirty="0">
                <a:solidFill>
                  <a:srgbClr val="F4EFE3"/>
                </a:solidFill>
              </a:rPr>
              <a:t>Players can practise against opponents that feel different, rather than one generic random AI.</a:t>
            </a:r>
            <a:endParaRPr lang="en-US" sz="970" dirty="0"/>
          </a:p>
        </p:txBody>
      </p:sp>
      <p:sp>
        <p:nvSpPr>
          <p:cNvPr id="11" name="Text 8"/>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Training System: Puzzles, Rules &amp; Learning Tools</a:t>
            </a:r>
            <a:endParaRPr lang="en-US" sz="2350" dirty="0"/>
          </a:p>
        </p:txBody>
      </p:sp>
      <p:sp>
        <p:nvSpPr>
          <p:cNvPr id="4" name="Shape 2"/>
          <p:cNvSpPr/>
          <p:nvPr/>
        </p:nvSpPr>
        <p:spPr>
          <a:xfrm>
            <a:off x="585216" y="923544"/>
            <a:ext cx="5376672" cy="2496312"/>
          </a:xfrm>
          <a:prstGeom prst="roundRect">
            <a:avLst>
              <a:gd name="adj" fmla="val 2930"/>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0).png"/>
          <p:cNvPicPr>
            <a:picLocks noChangeAspect="1"/>
          </p:cNvPicPr>
          <p:nvPr/>
        </p:nvPicPr>
        <p:blipFill>
          <a:blip r:embed="rId3"/>
          <a:srcRect l="2492" r="2492"/>
          <a:stretch/>
        </p:blipFill>
        <p:spPr>
          <a:xfrm>
            <a:off x="621792" y="960120"/>
            <a:ext cx="5303520" cy="2423160"/>
          </a:xfrm>
          <a:prstGeom prst="rect">
            <a:avLst/>
          </a:prstGeom>
        </p:spPr>
      </p:pic>
      <p:sp>
        <p:nvSpPr>
          <p:cNvPr id="6" name="Shape 3"/>
          <p:cNvSpPr/>
          <p:nvPr/>
        </p:nvSpPr>
        <p:spPr>
          <a:xfrm>
            <a:off x="585216" y="3666744"/>
            <a:ext cx="5376672" cy="2267712"/>
          </a:xfrm>
          <a:prstGeom prst="roundRect">
            <a:avLst>
              <a:gd name="adj" fmla="val 3226"/>
            </a:avLst>
          </a:prstGeom>
          <a:solidFill>
            <a:srgbClr val="0B0F0C"/>
          </a:solidFill>
          <a:ln w="8890">
            <a:solidFill>
              <a:srgbClr val="2E402D">
                <a:alpha val="90000"/>
              </a:srgbClr>
            </a:solidFill>
            <a:prstDash val="solid"/>
          </a:ln>
        </p:spPr>
        <p:txBody>
          <a:bodyPr/>
          <a:lstStyle/>
          <a:p>
            <a:endParaRPr lang="en-AU"/>
          </a:p>
        </p:txBody>
      </p:sp>
      <p:pic>
        <p:nvPicPr>
          <p:cNvPr id="7" name="Image 1" descr="/mnt/data/image(242).png"/>
          <p:cNvPicPr>
            <a:picLocks noChangeAspect="1"/>
          </p:cNvPicPr>
          <p:nvPr/>
        </p:nvPicPr>
        <p:blipFill>
          <a:blip r:embed="rId4"/>
          <a:srcRect t="13805" b="13805"/>
          <a:stretch/>
        </p:blipFill>
        <p:spPr>
          <a:xfrm>
            <a:off x="621792" y="3703320"/>
            <a:ext cx="5303520" cy="2194560"/>
          </a:xfrm>
          <a:prstGeom prst="rect">
            <a:avLst/>
          </a:prstGeom>
        </p:spPr>
      </p:pic>
      <p:sp>
        <p:nvSpPr>
          <p:cNvPr id="8" name="Shape 4"/>
          <p:cNvSpPr/>
          <p:nvPr/>
        </p:nvSpPr>
        <p:spPr>
          <a:xfrm>
            <a:off x="6355080" y="1115568"/>
            <a:ext cx="4937760" cy="4800600"/>
          </a:xfrm>
          <a:prstGeom prst="roundRect">
            <a:avLst>
              <a:gd name="adj" fmla="val 1524"/>
            </a:avLst>
          </a:prstGeom>
          <a:solidFill>
            <a:srgbClr val="172017"/>
          </a:solidFill>
          <a:ln w="8890">
            <a:solidFill>
              <a:srgbClr val="78B255">
                <a:alpha val="80000"/>
              </a:srgbClr>
            </a:solidFill>
            <a:prstDash val="solid"/>
          </a:ln>
        </p:spPr>
        <p:txBody>
          <a:bodyPr/>
          <a:lstStyle/>
          <a:p>
            <a:endParaRPr lang="en-AU"/>
          </a:p>
        </p:txBody>
      </p:sp>
      <p:sp>
        <p:nvSpPr>
          <p:cNvPr id="9" name="Text 5"/>
          <p:cNvSpPr/>
          <p:nvPr/>
        </p:nvSpPr>
        <p:spPr>
          <a:xfrm>
            <a:off x="6629400" y="1417320"/>
            <a:ext cx="4114800" cy="292608"/>
          </a:xfrm>
          <a:prstGeom prst="rect">
            <a:avLst/>
          </a:prstGeom>
          <a:noFill/>
          <a:ln/>
        </p:spPr>
        <p:txBody>
          <a:bodyPr wrap="square" lIns="0" tIns="0" rIns="0" bIns="0" rtlCol="0" anchor="ctr"/>
          <a:lstStyle/>
          <a:p>
            <a:pPr marL="0" indent="0">
              <a:buNone/>
            </a:pPr>
            <a:r>
              <a:rPr lang="en-US" sz="1600" b="1" dirty="0">
                <a:solidFill>
                  <a:srgbClr val="78B255"/>
                </a:solidFill>
              </a:rPr>
              <a:t>Designed for learning, not only playing</a:t>
            </a:r>
            <a:endParaRPr lang="en-US" sz="1600" dirty="0"/>
          </a:p>
        </p:txBody>
      </p:sp>
      <p:sp>
        <p:nvSpPr>
          <p:cNvPr id="10" name="Text 6"/>
          <p:cNvSpPr/>
          <p:nvPr/>
        </p:nvSpPr>
        <p:spPr>
          <a:xfrm>
            <a:off x="6693408" y="1901952"/>
            <a:ext cx="4069080" cy="1938528"/>
          </a:xfrm>
          <a:prstGeom prst="rect">
            <a:avLst/>
          </a:prstGeom>
          <a:noFill/>
          <a:ln/>
        </p:spPr>
        <p:txBody>
          <a:bodyPr wrap="square" lIns="254" tIns="254" rIns="254" bIns="254" rtlCol="0" anchor="ctr">
            <a:normAutofit/>
          </a:bodyPr>
          <a:lstStyle/>
          <a:p>
            <a:r>
              <a:rPr lang="en-US" sz="1150" dirty="0">
                <a:solidFill>
                  <a:srgbClr val="F4EFE3"/>
                </a:solidFill>
              </a:rPr>
              <a:t>Puzzle mode validates only the player move</a:t>
            </a:r>
            <a:endParaRPr lang="en-US" sz="1150" dirty="0"/>
          </a:p>
          <a:p>
            <a:r>
              <a:rPr lang="en-US" sz="1150" dirty="0">
                <a:solidFill>
                  <a:srgbClr val="F4EFE3"/>
                </a:solidFill>
              </a:rPr>
              <a:t>Correct moves highlight green and forced replies auto-play</a:t>
            </a:r>
            <a:endParaRPr lang="en-US" sz="1150" dirty="0"/>
          </a:p>
          <a:p>
            <a:r>
              <a:rPr lang="en-US" sz="1150" dirty="0">
                <a:solidFill>
                  <a:srgbClr val="F4EFE3"/>
                </a:solidFill>
              </a:rPr>
              <a:t>Wrong moves reset instead of corrupting the puzzle</a:t>
            </a:r>
            <a:endParaRPr lang="en-US" sz="1150" dirty="0"/>
          </a:p>
          <a:p>
            <a:r>
              <a:rPr lang="en-US" sz="1150" dirty="0">
                <a:solidFill>
                  <a:srgbClr val="F4EFE3"/>
                </a:solidFill>
              </a:rPr>
              <a:t>Rules guide explains movement, check, castling, promotion and draws</a:t>
            </a:r>
            <a:endParaRPr lang="en-US" sz="1150" dirty="0"/>
          </a:p>
          <a:p>
            <a:r>
              <a:rPr lang="en-US" sz="1150" dirty="0">
                <a:solidFill>
                  <a:srgbClr val="F4EFE3"/>
                </a:solidFill>
              </a:rPr>
              <a:t>Hints can use Stockfish and are blocked during the opponent’s turn</a:t>
            </a:r>
            <a:endParaRPr lang="en-US" sz="1150" dirty="0"/>
          </a:p>
        </p:txBody>
      </p:sp>
      <p:sp>
        <p:nvSpPr>
          <p:cNvPr id="11" name="Text 7"/>
          <p:cNvSpPr/>
          <p:nvPr/>
        </p:nvSpPr>
        <p:spPr>
          <a:xfrm>
            <a:off x="6629400" y="4663440"/>
            <a:ext cx="2286000" cy="201168"/>
          </a:xfrm>
          <a:prstGeom prst="rect">
            <a:avLst/>
          </a:prstGeom>
          <a:noFill/>
          <a:ln/>
        </p:spPr>
        <p:txBody>
          <a:bodyPr wrap="square" lIns="0" tIns="0" rIns="0" bIns="0" rtlCol="0" anchor="ctr"/>
          <a:lstStyle/>
          <a:p>
            <a:pPr marL="0" indent="0">
              <a:buNone/>
            </a:pPr>
            <a:r>
              <a:rPr lang="en-US" sz="1200" b="1" dirty="0">
                <a:solidFill>
                  <a:srgbClr val="F4A025"/>
                </a:solidFill>
              </a:rPr>
              <a:t>Assessment link</a:t>
            </a:r>
            <a:endParaRPr lang="en-US" sz="1200" dirty="0"/>
          </a:p>
        </p:txBody>
      </p:sp>
      <p:sp>
        <p:nvSpPr>
          <p:cNvPr id="12" name="Text 8"/>
          <p:cNvSpPr/>
          <p:nvPr/>
        </p:nvSpPr>
        <p:spPr>
          <a:xfrm>
            <a:off x="6629400" y="4956048"/>
            <a:ext cx="4069080" cy="310896"/>
          </a:xfrm>
          <a:prstGeom prst="rect">
            <a:avLst/>
          </a:prstGeom>
          <a:noFill/>
          <a:ln/>
        </p:spPr>
        <p:txBody>
          <a:bodyPr wrap="square" lIns="0" tIns="0" rIns="0" bIns="0" rtlCol="0" anchor="ctr">
            <a:normAutofit/>
          </a:bodyPr>
          <a:lstStyle/>
          <a:p>
            <a:pPr marL="0" indent="0">
              <a:buNone/>
            </a:pPr>
            <a:r>
              <a:rPr lang="en-US" sz="960" dirty="0">
                <a:solidFill>
                  <a:srgbClr val="F4EFE3"/>
                </a:solidFill>
              </a:rPr>
              <a:t>This feature proves user-focused refinement and demonstrates that the solution benefits players by teaching them how to improve.</a:t>
            </a:r>
            <a:endParaRPr lang="en-US" sz="960" dirty="0"/>
          </a:p>
        </p:txBody>
      </p:sp>
      <p:sp>
        <p:nvSpPr>
          <p:cNvPr id="13" name="Text 9"/>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Stockfish-Powered Game Review</a:t>
            </a:r>
            <a:endParaRPr lang="en-US" sz="2350" dirty="0"/>
          </a:p>
        </p:txBody>
      </p:sp>
      <p:sp>
        <p:nvSpPr>
          <p:cNvPr id="4" name="Shape 2"/>
          <p:cNvSpPr/>
          <p:nvPr/>
        </p:nvSpPr>
        <p:spPr>
          <a:xfrm>
            <a:off x="566928" y="923544"/>
            <a:ext cx="5788152" cy="4645152"/>
          </a:xfrm>
          <a:prstGeom prst="roundRect">
            <a:avLst>
              <a:gd name="adj" fmla="val 1575"/>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1).png"/>
          <p:cNvPicPr>
            <a:picLocks noChangeAspect="1"/>
          </p:cNvPicPr>
          <p:nvPr/>
        </p:nvPicPr>
        <p:blipFill>
          <a:blip r:embed="rId3"/>
          <a:srcRect l="14263" r="14263"/>
          <a:stretch/>
        </p:blipFill>
        <p:spPr>
          <a:xfrm>
            <a:off x="603504" y="960120"/>
            <a:ext cx="5715000" cy="4572000"/>
          </a:xfrm>
          <a:prstGeom prst="rect">
            <a:avLst/>
          </a:prstGeom>
        </p:spPr>
      </p:pic>
      <p:sp>
        <p:nvSpPr>
          <p:cNvPr id="6" name="Shape 3"/>
          <p:cNvSpPr/>
          <p:nvPr/>
        </p:nvSpPr>
        <p:spPr>
          <a:xfrm>
            <a:off x="6629400" y="960120"/>
            <a:ext cx="4892040" cy="4572000"/>
          </a:xfrm>
          <a:prstGeom prst="roundRect">
            <a:avLst>
              <a:gd name="adj" fmla="val 1600"/>
            </a:avLst>
          </a:prstGeom>
          <a:solidFill>
            <a:srgbClr val="172017"/>
          </a:solidFill>
          <a:ln w="8890">
            <a:solidFill>
              <a:srgbClr val="4FC3F7">
                <a:alpha val="80000"/>
              </a:srgbClr>
            </a:solidFill>
            <a:prstDash val="solid"/>
          </a:ln>
        </p:spPr>
        <p:txBody>
          <a:bodyPr/>
          <a:lstStyle/>
          <a:p>
            <a:endParaRPr lang="en-AU"/>
          </a:p>
        </p:txBody>
      </p:sp>
      <p:sp>
        <p:nvSpPr>
          <p:cNvPr id="7" name="Text 4"/>
          <p:cNvSpPr/>
          <p:nvPr/>
        </p:nvSpPr>
        <p:spPr>
          <a:xfrm>
            <a:off x="6903720" y="1280160"/>
            <a:ext cx="3200400" cy="274320"/>
          </a:xfrm>
          <a:prstGeom prst="rect">
            <a:avLst/>
          </a:prstGeom>
          <a:noFill/>
          <a:ln/>
        </p:spPr>
        <p:txBody>
          <a:bodyPr wrap="square" lIns="0" tIns="0" rIns="0" bIns="0" rtlCol="0" anchor="ctr"/>
          <a:lstStyle/>
          <a:p>
            <a:pPr marL="0" indent="0">
              <a:buNone/>
            </a:pPr>
            <a:r>
              <a:rPr lang="en-US" sz="1600" b="1" dirty="0">
                <a:solidFill>
                  <a:srgbClr val="4FC3F7"/>
                </a:solidFill>
              </a:rPr>
              <a:t>How the review works</a:t>
            </a:r>
            <a:endParaRPr lang="en-US" sz="1600" dirty="0"/>
          </a:p>
        </p:txBody>
      </p:sp>
      <p:sp>
        <p:nvSpPr>
          <p:cNvPr id="8" name="Shape 5"/>
          <p:cNvSpPr/>
          <p:nvPr/>
        </p:nvSpPr>
        <p:spPr>
          <a:xfrm>
            <a:off x="6903720" y="1783080"/>
            <a:ext cx="292608" cy="292608"/>
          </a:xfrm>
          <a:prstGeom prst="ellipse">
            <a:avLst/>
          </a:prstGeom>
          <a:solidFill>
            <a:srgbClr val="F4A025"/>
          </a:solidFill>
          <a:ln w="12700">
            <a:solidFill>
              <a:srgbClr val="333333">
                <a:alpha val="0"/>
              </a:srgbClr>
            </a:solidFill>
            <a:prstDash val="solid"/>
          </a:ln>
        </p:spPr>
        <p:txBody>
          <a:bodyPr/>
          <a:lstStyle/>
          <a:p>
            <a:endParaRPr lang="en-AU"/>
          </a:p>
        </p:txBody>
      </p:sp>
      <p:sp>
        <p:nvSpPr>
          <p:cNvPr id="9" name="Text 6"/>
          <p:cNvSpPr/>
          <p:nvPr/>
        </p:nvSpPr>
        <p:spPr>
          <a:xfrm>
            <a:off x="6903720" y="1856232"/>
            <a:ext cx="292608" cy="91440"/>
          </a:xfrm>
          <a:prstGeom prst="rect">
            <a:avLst/>
          </a:prstGeom>
          <a:noFill/>
          <a:ln/>
        </p:spPr>
        <p:txBody>
          <a:bodyPr wrap="square" lIns="0" tIns="0" rIns="0" bIns="0" rtlCol="0" anchor="ctr"/>
          <a:lstStyle/>
          <a:p>
            <a:pPr marL="0" indent="0" algn="ctr">
              <a:buNone/>
            </a:pPr>
            <a:r>
              <a:rPr lang="en-US" sz="650" b="1" dirty="0">
                <a:solidFill>
                  <a:srgbClr val="000000"/>
                </a:solidFill>
              </a:rPr>
              <a:t>1</a:t>
            </a:r>
            <a:endParaRPr lang="en-US" sz="650" dirty="0"/>
          </a:p>
        </p:txBody>
      </p:sp>
      <p:sp>
        <p:nvSpPr>
          <p:cNvPr id="10" name="Text 7"/>
          <p:cNvSpPr/>
          <p:nvPr/>
        </p:nvSpPr>
        <p:spPr>
          <a:xfrm>
            <a:off x="7333488" y="1801368"/>
            <a:ext cx="3703320" cy="228600"/>
          </a:xfrm>
          <a:prstGeom prst="rect">
            <a:avLst/>
          </a:prstGeom>
          <a:noFill/>
          <a:ln/>
        </p:spPr>
        <p:txBody>
          <a:bodyPr wrap="square" lIns="0" tIns="0" rIns="0" bIns="0" rtlCol="0" anchor="ctr"/>
          <a:lstStyle/>
          <a:p>
            <a:pPr marL="0" indent="0">
              <a:buNone/>
            </a:pPr>
            <a:r>
              <a:rPr lang="en-US" sz="1030" dirty="0">
                <a:solidFill>
                  <a:srgbClr val="F4EFE3"/>
                </a:solidFill>
              </a:rPr>
              <a:t>Replay move log and rebuild board positions</a:t>
            </a:r>
            <a:endParaRPr lang="en-US" sz="1030" dirty="0"/>
          </a:p>
        </p:txBody>
      </p:sp>
      <p:sp>
        <p:nvSpPr>
          <p:cNvPr id="11" name="Shape 8"/>
          <p:cNvSpPr/>
          <p:nvPr/>
        </p:nvSpPr>
        <p:spPr>
          <a:xfrm>
            <a:off x="6903720" y="2368296"/>
            <a:ext cx="292608" cy="292608"/>
          </a:xfrm>
          <a:prstGeom prst="ellipse">
            <a:avLst/>
          </a:prstGeom>
          <a:solidFill>
            <a:srgbClr val="78B255"/>
          </a:solidFill>
          <a:ln w="12700">
            <a:solidFill>
              <a:srgbClr val="333333">
                <a:alpha val="0"/>
              </a:srgbClr>
            </a:solidFill>
            <a:prstDash val="solid"/>
          </a:ln>
        </p:spPr>
        <p:txBody>
          <a:bodyPr/>
          <a:lstStyle/>
          <a:p>
            <a:endParaRPr lang="en-AU"/>
          </a:p>
        </p:txBody>
      </p:sp>
      <p:sp>
        <p:nvSpPr>
          <p:cNvPr id="12" name="Text 9"/>
          <p:cNvSpPr/>
          <p:nvPr/>
        </p:nvSpPr>
        <p:spPr>
          <a:xfrm>
            <a:off x="6903720" y="2441448"/>
            <a:ext cx="292608" cy="91440"/>
          </a:xfrm>
          <a:prstGeom prst="rect">
            <a:avLst/>
          </a:prstGeom>
          <a:noFill/>
          <a:ln/>
        </p:spPr>
        <p:txBody>
          <a:bodyPr wrap="square" lIns="0" tIns="0" rIns="0" bIns="0" rtlCol="0" anchor="ctr"/>
          <a:lstStyle/>
          <a:p>
            <a:pPr marL="0" indent="0" algn="ctr">
              <a:buNone/>
            </a:pPr>
            <a:r>
              <a:rPr lang="en-US" sz="650" b="1" dirty="0">
                <a:solidFill>
                  <a:srgbClr val="000000"/>
                </a:solidFill>
              </a:rPr>
              <a:t>2</a:t>
            </a:r>
            <a:endParaRPr lang="en-US" sz="650" dirty="0"/>
          </a:p>
        </p:txBody>
      </p:sp>
      <p:sp>
        <p:nvSpPr>
          <p:cNvPr id="13" name="Text 10"/>
          <p:cNvSpPr/>
          <p:nvPr/>
        </p:nvSpPr>
        <p:spPr>
          <a:xfrm>
            <a:off x="7333488" y="2386584"/>
            <a:ext cx="3703320" cy="228600"/>
          </a:xfrm>
          <a:prstGeom prst="rect">
            <a:avLst/>
          </a:prstGeom>
          <a:noFill/>
          <a:ln/>
        </p:spPr>
        <p:txBody>
          <a:bodyPr wrap="square" lIns="0" tIns="0" rIns="0" bIns="0" rtlCol="0" anchor="ctr"/>
          <a:lstStyle/>
          <a:p>
            <a:pPr marL="0" indent="0">
              <a:buNone/>
            </a:pPr>
            <a:r>
              <a:rPr lang="en-US" sz="1030" dirty="0">
                <a:solidFill>
                  <a:srgbClr val="F4EFE3"/>
                </a:solidFill>
              </a:rPr>
              <a:t>Send FEN positions to Stockfish via UCI</a:t>
            </a:r>
            <a:endParaRPr lang="en-US" sz="1030" dirty="0"/>
          </a:p>
        </p:txBody>
      </p:sp>
      <p:sp>
        <p:nvSpPr>
          <p:cNvPr id="14" name="Shape 11"/>
          <p:cNvSpPr/>
          <p:nvPr/>
        </p:nvSpPr>
        <p:spPr>
          <a:xfrm>
            <a:off x="6903720" y="2953512"/>
            <a:ext cx="292608" cy="292608"/>
          </a:xfrm>
          <a:prstGeom prst="ellipse">
            <a:avLst/>
          </a:prstGeom>
          <a:solidFill>
            <a:srgbClr val="F4A025"/>
          </a:solidFill>
          <a:ln w="12700">
            <a:solidFill>
              <a:srgbClr val="333333">
                <a:alpha val="0"/>
              </a:srgbClr>
            </a:solidFill>
            <a:prstDash val="solid"/>
          </a:ln>
        </p:spPr>
        <p:txBody>
          <a:bodyPr/>
          <a:lstStyle/>
          <a:p>
            <a:endParaRPr lang="en-AU"/>
          </a:p>
        </p:txBody>
      </p:sp>
      <p:sp>
        <p:nvSpPr>
          <p:cNvPr id="15" name="Text 12"/>
          <p:cNvSpPr/>
          <p:nvPr/>
        </p:nvSpPr>
        <p:spPr>
          <a:xfrm>
            <a:off x="6903720" y="3026664"/>
            <a:ext cx="292608" cy="91440"/>
          </a:xfrm>
          <a:prstGeom prst="rect">
            <a:avLst/>
          </a:prstGeom>
          <a:noFill/>
          <a:ln/>
        </p:spPr>
        <p:txBody>
          <a:bodyPr wrap="square" lIns="0" tIns="0" rIns="0" bIns="0" rtlCol="0" anchor="ctr"/>
          <a:lstStyle/>
          <a:p>
            <a:pPr marL="0" indent="0" algn="ctr">
              <a:buNone/>
            </a:pPr>
            <a:r>
              <a:rPr lang="en-US" sz="650" b="1" dirty="0">
                <a:solidFill>
                  <a:srgbClr val="000000"/>
                </a:solidFill>
              </a:rPr>
              <a:t>3</a:t>
            </a:r>
            <a:endParaRPr lang="en-US" sz="650" dirty="0"/>
          </a:p>
        </p:txBody>
      </p:sp>
      <p:sp>
        <p:nvSpPr>
          <p:cNvPr id="16" name="Text 13"/>
          <p:cNvSpPr/>
          <p:nvPr/>
        </p:nvSpPr>
        <p:spPr>
          <a:xfrm>
            <a:off x="7333488" y="2971800"/>
            <a:ext cx="3703320" cy="228600"/>
          </a:xfrm>
          <a:prstGeom prst="rect">
            <a:avLst/>
          </a:prstGeom>
          <a:noFill/>
          <a:ln/>
        </p:spPr>
        <p:txBody>
          <a:bodyPr wrap="square" lIns="0" tIns="0" rIns="0" bIns="0" rtlCol="0" anchor="ctr"/>
          <a:lstStyle/>
          <a:p>
            <a:pPr marL="0" indent="0">
              <a:buNone/>
            </a:pPr>
            <a:r>
              <a:rPr lang="en-US" sz="1030" dirty="0">
                <a:solidFill>
                  <a:srgbClr val="F4EFE3"/>
                </a:solidFill>
              </a:rPr>
              <a:t>Receive best move and evaluation</a:t>
            </a:r>
            <a:endParaRPr lang="en-US" sz="1030" dirty="0"/>
          </a:p>
        </p:txBody>
      </p:sp>
      <p:sp>
        <p:nvSpPr>
          <p:cNvPr id="17" name="Shape 14"/>
          <p:cNvSpPr/>
          <p:nvPr/>
        </p:nvSpPr>
        <p:spPr>
          <a:xfrm>
            <a:off x="6903720" y="3538728"/>
            <a:ext cx="292608" cy="292608"/>
          </a:xfrm>
          <a:prstGeom prst="ellipse">
            <a:avLst/>
          </a:prstGeom>
          <a:solidFill>
            <a:srgbClr val="78B255"/>
          </a:solidFill>
          <a:ln w="12700">
            <a:solidFill>
              <a:srgbClr val="333333">
                <a:alpha val="0"/>
              </a:srgbClr>
            </a:solidFill>
            <a:prstDash val="solid"/>
          </a:ln>
        </p:spPr>
        <p:txBody>
          <a:bodyPr/>
          <a:lstStyle/>
          <a:p>
            <a:endParaRPr lang="en-AU"/>
          </a:p>
        </p:txBody>
      </p:sp>
      <p:sp>
        <p:nvSpPr>
          <p:cNvPr id="18" name="Text 15"/>
          <p:cNvSpPr/>
          <p:nvPr/>
        </p:nvSpPr>
        <p:spPr>
          <a:xfrm>
            <a:off x="6903720" y="3611880"/>
            <a:ext cx="292608" cy="91440"/>
          </a:xfrm>
          <a:prstGeom prst="rect">
            <a:avLst/>
          </a:prstGeom>
          <a:noFill/>
          <a:ln/>
        </p:spPr>
        <p:txBody>
          <a:bodyPr wrap="square" lIns="0" tIns="0" rIns="0" bIns="0" rtlCol="0" anchor="ctr"/>
          <a:lstStyle/>
          <a:p>
            <a:pPr marL="0" indent="0" algn="ctr">
              <a:buNone/>
            </a:pPr>
            <a:r>
              <a:rPr lang="en-US" sz="650" b="1" dirty="0">
                <a:solidFill>
                  <a:srgbClr val="000000"/>
                </a:solidFill>
              </a:rPr>
              <a:t>4</a:t>
            </a:r>
            <a:endParaRPr lang="en-US" sz="650" dirty="0"/>
          </a:p>
        </p:txBody>
      </p:sp>
      <p:sp>
        <p:nvSpPr>
          <p:cNvPr id="19" name="Text 16"/>
          <p:cNvSpPr/>
          <p:nvPr/>
        </p:nvSpPr>
        <p:spPr>
          <a:xfrm>
            <a:off x="7333488" y="3557016"/>
            <a:ext cx="3703320" cy="228600"/>
          </a:xfrm>
          <a:prstGeom prst="rect">
            <a:avLst/>
          </a:prstGeom>
          <a:noFill/>
          <a:ln/>
        </p:spPr>
        <p:txBody>
          <a:bodyPr wrap="square" lIns="0" tIns="0" rIns="0" bIns="0" rtlCol="0" anchor="ctr"/>
          <a:lstStyle/>
          <a:p>
            <a:pPr marL="0" indent="0">
              <a:buNone/>
            </a:pPr>
            <a:r>
              <a:rPr lang="en-US" sz="1030" dirty="0">
                <a:solidFill>
                  <a:srgbClr val="F4EFE3"/>
                </a:solidFill>
              </a:rPr>
              <a:t>Classify player moves using expected-points loss</a:t>
            </a:r>
            <a:endParaRPr lang="en-US" sz="1030" dirty="0"/>
          </a:p>
        </p:txBody>
      </p:sp>
      <p:sp>
        <p:nvSpPr>
          <p:cNvPr id="20" name="Shape 17"/>
          <p:cNvSpPr/>
          <p:nvPr/>
        </p:nvSpPr>
        <p:spPr>
          <a:xfrm>
            <a:off x="6903720" y="4123944"/>
            <a:ext cx="292608" cy="292608"/>
          </a:xfrm>
          <a:prstGeom prst="ellipse">
            <a:avLst/>
          </a:prstGeom>
          <a:solidFill>
            <a:srgbClr val="F4A025"/>
          </a:solidFill>
          <a:ln w="12700">
            <a:solidFill>
              <a:srgbClr val="333333">
                <a:alpha val="0"/>
              </a:srgbClr>
            </a:solidFill>
            <a:prstDash val="solid"/>
          </a:ln>
        </p:spPr>
        <p:txBody>
          <a:bodyPr/>
          <a:lstStyle/>
          <a:p>
            <a:endParaRPr lang="en-AU"/>
          </a:p>
        </p:txBody>
      </p:sp>
      <p:sp>
        <p:nvSpPr>
          <p:cNvPr id="21" name="Text 18"/>
          <p:cNvSpPr/>
          <p:nvPr/>
        </p:nvSpPr>
        <p:spPr>
          <a:xfrm>
            <a:off x="6903720" y="4197096"/>
            <a:ext cx="292608" cy="91440"/>
          </a:xfrm>
          <a:prstGeom prst="rect">
            <a:avLst/>
          </a:prstGeom>
          <a:noFill/>
          <a:ln/>
        </p:spPr>
        <p:txBody>
          <a:bodyPr wrap="square" lIns="0" tIns="0" rIns="0" bIns="0" rtlCol="0" anchor="ctr"/>
          <a:lstStyle/>
          <a:p>
            <a:pPr marL="0" indent="0" algn="ctr">
              <a:buNone/>
            </a:pPr>
            <a:r>
              <a:rPr lang="en-US" sz="650" b="1" dirty="0">
                <a:solidFill>
                  <a:srgbClr val="000000"/>
                </a:solidFill>
              </a:rPr>
              <a:t>5</a:t>
            </a:r>
            <a:endParaRPr lang="en-US" sz="650" dirty="0"/>
          </a:p>
        </p:txBody>
      </p:sp>
      <p:sp>
        <p:nvSpPr>
          <p:cNvPr id="22" name="Text 19"/>
          <p:cNvSpPr/>
          <p:nvPr/>
        </p:nvSpPr>
        <p:spPr>
          <a:xfrm>
            <a:off x="7333488" y="4142232"/>
            <a:ext cx="3703320" cy="228600"/>
          </a:xfrm>
          <a:prstGeom prst="rect">
            <a:avLst/>
          </a:prstGeom>
          <a:noFill/>
          <a:ln/>
        </p:spPr>
        <p:txBody>
          <a:bodyPr wrap="square" lIns="0" tIns="0" rIns="0" bIns="0" rtlCol="0" anchor="ctr"/>
          <a:lstStyle/>
          <a:p>
            <a:pPr marL="0" indent="0">
              <a:buNone/>
            </a:pPr>
            <a:r>
              <a:rPr lang="en-US" sz="1030" dirty="0">
                <a:solidFill>
                  <a:srgbClr val="F4EFE3"/>
                </a:solidFill>
              </a:rPr>
              <a:t>Display board, arrows, labels, graph and coach note</a:t>
            </a:r>
            <a:endParaRPr lang="en-US" sz="1030" dirty="0"/>
          </a:p>
        </p:txBody>
      </p:sp>
      <p:sp>
        <p:nvSpPr>
          <p:cNvPr id="23" name="Text 20"/>
          <p:cNvSpPr/>
          <p:nvPr/>
        </p:nvSpPr>
        <p:spPr>
          <a:xfrm>
            <a:off x="6903720" y="4800600"/>
            <a:ext cx="2194560" cy="201168"/>
          </a:xfrm>
          <a:prstGeom prst="rect">
            <a:avLst/>
          </a:prstGeom>
          <a:noFill/>
          <a:ln/>
        </p:spPr>
        <p:txBody>
          <a:bodyPr wrap="square" lIns="0" tIns="0" rIns="0" bIns="0" rtlCol="0" anchor="ctr"/>
          <a:lstStyle/>
          <a:p>
            <a:pPr marL="0" indent="0">
              <a:buNone/>
            </a:pPr>
            <a:r>
              <a:rPr lang="en-US" sz="1200" b="1" dirty="0">
                <a:solidFill>
                  <a:srgbClr val="F4A025"/>
                </a:solidFill>
              </a:rPr>
              <a:t>Player benefit</a:t>
            </a:r>
            <a:endParaRPr lang="en-US" sz="1200" dirty="0"/>
          </a:p>
        </p:txBody>
      </p:sp>
      <p:sp>
        <p:nvSpPr>
          <p:cNvPr id="24" name="Text 21"/>
          <p:cNvSpPr/>
          <p:nvPr/>
        </p:nvSpPr>
        <p:spPr>
          <a:xfrm>
            <a:off x="6903720" y="5093208"/>
            <a:ext cx="3794760" cy="310896"/>
          </a:xfrm>
          <a:prstGeom prst="rect">
            <a:avLst/>
          </a:prstGeom>
          <a:noFill/>
          <a:ln/>
        </p:spPr>
        <p:txBody>
          <a:bodyPr wrap="square" lIns="0" tIns="0" rIns="0" bIns="0" rtlCol="0" anchor="ctr">
            <a:normAutofit/>
          </a:bodyPr>
          <a:lstStyle/>
          <a:p>
            <a:pPr marL="0" indent="0">
              <a:buNone/>
            </a:pPr>
            <a:r>
              <a:rPr lang="en-US" sz="950" dirty="0">
                <a:solidFill>
                  <a:srgbClr val="F4EFE3"/>
                </a:solidFill>
              </a:rPr>
              <a:t>The review turns raw engine analysis into a clear learning interface: what was played, what was better, and how much the move affected the position.</a:t>
            </a:r>
            <a:endParaRPr lang="en-US" sz="950" dirty="0"/>
          </a:p>
        </p:txBody>
      </p:sp>
      <p:sp>
        <p:nvSpPr>
          <p:cNvPr id="25" name="Text 22"/>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Defensive Programming &amp; Reliability</a:t>
            </a:r>
            <a:endParaRPr lang="en-US" sz="2350" dirty="0"/>
          </a:p>
        </p:txBody>
      </p:sp>
      <p:sp>
        <p:nvSpPr>
          <p:cNvPr id="4" name="Shape 2"/>
          <p:cNvSpPr/>
          <p:nvPr/>
        </p:nvSpPr>
        <p:spPr>
          <a:xfrm>
            <a:off x="6501384" y="1060704"/>
            <a:ext cx="4828032" cy="2084832"/>
          </a:xfrm>
          <a:prstGeom prst="roundRect">
            <a:avLst>
              <a:gd name="adj" fmla="val 3509"/>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6).png"/>
          <p:cNvPicPr>
            <a:picLocks noChangeAspect="1"/>
          </p:cNvPicPr>
          <p:nvPr/>
        </p:nvPicPr>
        <p:blipFill>
          <a:blip r:embed="rId3"/>
          <a:srcRect l="2832" r="2832"/>
          <a:stretch/>
        </p:blipFill>
        <p:spPr>
          <a:xfrm>
            <a:off x="6537960" y="1097280"/>
            <a:ext cx="4754880" cy="2011680"/>
          </a:xfrm>
          <a:prstGeom prst="rect">
            <a:avLst/>
          </a:prstGeom>
        </p:spPr>
      </p:pic>
      <p:sp>
        <p:nvSpPr>
          <p:cNvPr id="6" name="Shape 3"/>
          <p:cNvSpPr/>
          <p:nvPr/>
        </p:nvSpPr>
        <p:spPr>
          <a:xfrm>
            <a:off x="6501384" y="3849624"/>
            <a:ext cx="4828032" cy="1581912"/>
          </a:xfrm>
          <a:prstGeom prst="roundRect">
            <a:avLst>
              <a:gd name="adj" fmla="val 4624"/>
            </a:avLst>
          </a:prstGeom>
          <a:solidFill>
            <a:srgbClr val="0B0F0C"/>
          </a:solidFill>
          <a:ln w="8890">
            <a:solidFill>
              <a:srgbClr val="2E402D">
                <a:alpha val="90000"/>
              </a:srgbClr>
            </a:solidFill>
            <a:prstDash val="solid"/>
          </a:ln>
        </p:spPr>
        <p:txBody>
          <a:bodyPr/>
          <a:lstStyle/>
          <a:p>
            <a:endParaRPr lang="en-AU"/>
          </a:p>
        </p:txBody>
      </p:sp>
      <p:pic>
        <p:nvPicPr>
          <p:cNvPr id="7" name="Image 1" descr="/mnt/data/image(249).png"/>
          <p:cNvPicPr>
            <a:picLocks noChangeAspect="1"/>
          </p:cNvPicPr>
          <p:nvPr/>
        </p:nvPicPr>
        <p:blipFill>
          <a:blip r:embed="rId4"/>
          <a:stretch>
            <a:fillRect/>
          </a:stretch>
        </p:blipFill>
        <p:spPr>
          <a:xfrm>
            <a:off x="7025114" y="3886200"/>
            <a:ext cx="3780571" cy="1508760"/>
          </a:xfrm>
          <a:prstGeom prst="rect">
            <a:avLst/>
          </a:prstGeom>
        </p:spPr>
      </p:pic>
      <p:sp>
        <p:nvSpPr>
          <p:cNvPr id="8" name="Text 4"/>
          <p:cNvSpPr/>
          <p:nvPr/>
        </p:nvSpPr>
        <p:spPr>
          <a:xfrm>
            <a:off x="749808" y="1115568"/>
            <a:ext cx="3657600" cy="292608"/>
          </a:xfrm>
          <a:prstGeom prst="rect">
            <a:avLst/>
          </a:prstGeom>
          <a:noFill/>
          <a:ln/>
        </p:spPr>
        <p:txBody>
          <a:bodyPr wrap="square" lIns="0" tIns="0" rIns="0" bIns="0" rtlCol="0" anchor="ctr"/>
          <a:lstStyle/>
          <a:p>
            <a:pPr marL="0" indent="0">
              <a:buNone/>
            </a:pPr>
            <a:r>
              <a:rPr lang="en-US" sz="2000" b="1" dirty="0">
                <a:solidFill>
                  <a:srgbClr val="F4A025"/>
                </a:solidFill>
              </a:rPr>
              <a:t>Desktop safety focus</a:t>
            </a:r>
            <a:endParaRPr lang="en-US" sz="2000" dirty="0"/>
          </a:p>
        </p:txBody>
      </p:sp>
      <p:sp>
        <p:nvSpPr>
          <p:cNvPr id="9" name="Text 5"/>
          <p:cNvSpPr/>
          <p:nvPr/>
        </p:nvSpPr>
        <p:spPr>
          <a:xfrm>
            <a:off x="768096" y="1600200"/>
            <a:ext cx="5212080" cy="566928"/>
          </a:xfrm>
          <a:prstGeom prst="rect">
            <a:avLst/>
          </a:prstGeom>
          <a:noFill/>
          <a:ln/>
        </p:spPr>
        <p:txBody>
          <a:bodyPr wrap="square" lIns="0" tIns="0" rIns="0" bIns="0" rtlCol="0" anchor="ctr">
            <a:normAutofit/>
          </a:bodyPr>
          <a:lstStyle/>
          <a:p>
            <a:pPr marL="0" indent="0">
              <a:buNone/>
            </a:pPr>
            <a:r>
              <a:rPr lang="en-US" sz="1350" dirty="0">
                <a:solidFill>
                  <a:srgbClr val="F4EFE3"/>
                </a:solidFill>
              </a:rPr>
              <a:t>As a desktop app, the most relevant security requirements are defensive data handling, exception management, error handling and prevention of race-condition style AI crashes.</a:t>
            </a:r>
            <a:endParaRPr lang="en-US" sz="1350" dirty="0"/>
          </a:p>
        </p:txBody>
      </p:sp>
      <p:sp>
        <p:nvSpPr>
          <p:cNvPr id="10" name="Shape 6"/>
          <p:cNvSpPr/>
          <p:nvPr/>
        </p:nvSpPr>
        <p:spPr>
          <a:xfrm>
            <a:off x="768096" y="2578608"/>
            <a:ext cx="2468880" cy="932688"/>
          </a:xfrm>
          <a:prstGeom prst="roundRect">
            <a:avLst>
              <a:gd name="adj" fmla="val 7843"/>
            </a:avLst>
          </a:prstGeom>
          <a:solidFill>
            <a:srgbClr val="172018"/>
          </a:solidFill>
          <a:ln w="8890">
            <a:solidFill>
              <a:srgbClr val="78B255">
                <a:alpha val="82000"/>
              </a:srgbClr>
            </a:solidFill>
            <a:prstDash val="solid"/>
          </a:ln>
        </p:spPr>
        <p:txBody>
          <a:bodyPr/>
          <a:lstStyle/>
          <a:p>
            <a:endParaRPr lang="en-AU"/>
          </a:p>
        </p:txBody>
      </p:sp>
      <p:sp>
        <p:nvSpPr>
          <p:cNvPr id="11" name="Text 7"/>
          <p:cNvSpPr/>
          <p:nvPr/>
        </p:nvSpPr>
        <p:spPr>
          <a:xfrm>
            <a:off x="905256" y="2706624"/>
            <a:ext cx="2194560" cy="228600"/>
          </a:xfrm>
          <a:prstGeom prst="rect">
            <a:avLst/>
          </a:prstGeom>
          <a:noFill/>
          <a:ln/>
        </p:spPr>
        <p:txBody>
          <a:bodyPr wrap="square" lIns="0" tIns="0" rIns="0" bIns="0" rtlCol="0" anchor="ctr"/>
          <a:lstStyle/>
          <a:p>
            <a:pPr marL="0" indent="0">
              <a:buNone/>
            </a:pPr>
            <a:r>
              <a:rPr lang="en-US" sz="1150" b="1" dirty="0">
                <a:solidFill>
                  <a:srgbClr val="78B255"/>
                </a:solidFill>
              </a:rPr>
              <a:t>Stockfish fallback</a:t>
            </a:r>
            <a:endParaRPr lang="en-US" sz="1150" dirty="0"/>
          </a:p>
        </p:txBody>
      </p:sp>
      <p:sp>
        <p:nvSpPr>
          <p:cNvPr id="12" name="Text 8"/>
          <p:cNvSpPr/>
          <p:nvPr/>
        </p:nvSpPr>
        <p:spPr>
          <a:xfrm>
            <a:off x="905256" y="2990088"/>
            <a:ext cx="2194560" cy="429768"/>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If Stockfish is missing or crashes, the app keeps running using internal evaluation.</a:t>
            </a:r>
            <a:endParaRPr lang="en-US" sz="820" dirty="0"/>
          </a:p>
        </p:txBody>
      </p:sp>
      <p:sp>
        <p:nvSpPr>
          <p:cNvPr id="13" name="Shape 9"/>
          <p:cNvSpPr/>
          <p:nvPr/>
        </p:nvSpPr>
        <p:spPr>
          <a:xfrm>
            <a:off x="3493008" y="2578608"/>
            <a:ext cx="2468880" cy="932688"/>
          </a:xfrm>
          <a:prstGeom prst="roundRect">
            <a:avLst>
              <a:gd name="adj" fmla="val 7843"/>
            </a:avLst>
          </a:prstGeom>
          <a:solidFill>
            <a:srgbClr val="172018"/>
          </a:solidFill>
          <a:ln w="8890">
            <a:solidFill>
              <a:srgbClr val="4FC3F7">
                <a:alpha val="82000"/>
              </a:srgbClr>
            </a:solidFill>
            <a:prstDash val="solid"/>
          </a:ln>
        </p:spPr>
        <p:txBody>
          <a:bodyPr/>
          <a:lstStyle/>
          <a:p>
            <a:endParaRPr lang="en-AU"/>
          </a:p>
        </p:txBody>
      </p:sp>
      <p:sp>
        <p:nvSpPr>
          <p:cNvPr id="14" name="Text 10"/>
          <p:cNvSpPr/>
          <p:nvPr/>
        </p:nvSpPr>
        <p:spPr>
          <a:xfrm>
            <a:off x="3630168" y="2706624"/>
            <a:ext cx="2194560" cy="228600"/>
          </a:xfrm>
          <a:prstGeom prst="rect">
            <a:avLst/>
          </a:prstGeom>
          <a:noFill/>
          <a:ln/>
        </p:spPr>
        <p:txBody>
          <a:bodyPr wrap="square" lIns="0" tIns="0" rIns="0" bIns="0" rtlCol="0" anchor="ctr"/>
          <a:lstStyle/>
          <a:p>
            <a:pPr marL="0" indent="0">
              <a:buNone/>
            </a:pPr>
            <a:r>
              <a:rPr lang="en-US" sz="1150" b="1" dirty="0">
                <a:solidFill>
                  <a:srgbClr val="4FC3F7"/>
                </a:solidFill>
              </a:rPr>
              <a:t>File validation</a:t>
            </a:r>
            <a:endParaRPr lang="en-US" sz="1150" dirty="0"/>
          </a:p>
        </p:txBody>
      </p:sp>
      <p:sp>
        <p:nvSpPr>
          <p:cNvPr id="15" name="Text 11"/>
          <p:cNvSpPr/>
          <p:nvPr/>
        </p:nvSpPr>
        <p:spPr>
          <a:xfrm>
            <a:off x="3630168" y="2990088"/>
            <a:ext cx="2194560" cy="429768"/>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PGN/FEN imports are checked before being loaded into the board state.</a:t>
            </a:r>
            <a:endParaRPr lang="en-US" sz="820" dirty="0"/>
          </a:p>
        </p:txBody>
      </p:sp>
      <p:sp>
        <p:nvSpPr>
          <p:cNvPr id="16" name="Shape 12"/>
          <p:cNvSpPr/>
          <p:nvPr/>
        </p:nvSpPr>
        <p:spPr>
          <a:xfrm>
            <a:off x="768096" y="3913632"/>
            <a:ext cx="2468880" cy="932688"/>
          </a:xfrm>
          <a:prstGeom prst="roundRect">
            <a:avLst>
              <a:gd name="adj" fmla="val 7843"/>
            </a:avLst>
          </a:prstGeom>
          <a:solidFill>
            <a:srgbClr val="172018"/>
          </a:solidFill>
          <a:ln w="8890">
            <a:solidFill>
              <a:srgbClr val="9E68FF">
                <a:alpha val="82000"/>
              </a:srgbClr>
            </a:solidFill>
            <a:prstDash val="solid"/>
          </a:ln>
        </p:spPr>
        <p:txBody>
          <a:bodyPr/>
          <a:lstStyle/>
          <a:p>
            <a:endParaRPr lang="en-AU"/>
          </a:p>
        </p:txBody>
      </p:sp>
      <p:sp>
        <p:nvSpPr>
          <p:cNvPr id="17" name="Text 13"/>
          <p:cNvSpPr/>
          <p:nvPr/>
        </p:nvSpPr>
        <p:spPr>
          <a:xfrm>
            <a:off x="905256" y="4041648"/>
            <a:ext cx="2194560" cy="228600"/>
          </a:xfrm>
          <a:prstGeom prst="rect">
            <a:avLst/>
          </a:prstGeom>
          <a:noFill/>
          <a:ln/>
        </p:spPr>
        <p:txBody>
          <a:bodyPr wrap="square" lIns="0" tIns="0" rIns="0" bIns="0" rtlCol="0" anchor="ctr"/>
          <a:lstStyle/>
          <a:p>
            <a:pPr marL="0" indent="0">
              <a:buNone/>
            </a:pPr>
            <a:r>
              <a:rPr lang="en-US" sz="1150" b="1" dirty="0">
                <a:solidFill>
                  <a:srgbClr val="9E68FF"/>
                </a:solidFill>
              </a:rPr>
              <a:t>Puzzle guards</a:t>
            </a:r>
            <a:endParaRPr lang="en-US" sz="1150" dirty="0"/>
          </a:p>
        </p:txBody>
      </p:sp>
      <p:sp>
        <p:nvSpPr>
          <p:cNvPr id="18" name="Text 14"/>
          <p:cNvSpPr/>
          <p:nvPr/>
        </p:nvSpPr>
        <p:spPr>
          <a:xfrm>
            <a:off x="905256" y="4325112"/>
            <a:ext cx="2194560" cy="429768"/>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Puzzle solution indexes are checked to avoid list out-of-range crashes.</a:t>
            </a:r>
            <a:endParaRPr lang="en-US" sz="820" dirty="0"/>
          </a:p>
        </p:txBody>
      </p:sp>
      <p:sp>
        <p:nvSpPr>
          <p:cNvPr id="19" name="Shape 15"/>
          <p:cNvSpPr/>
          <p:nvPr/>
        </p:nvSpPr>
        <p:spPr>
          <a:xfrm>
            <a:off x="3493008" y="3913632"/>
            <a:ext cx="2468880" cy="932688"/>
          </a:xfrm>
          <a:prstGeom prst="roundRect">
            <a:avLst>
              <a:gd name="adj" fmla="val 7843"/>
            </a:avLst>
          </a:prstGeom>
          <a:solidFill>
            <a:srgbClr val="172018"/>
          </a:solidFill>
          <a:ln w="8890">
            <a:solidFill>
              <a:srgbClr val="F4A025">
                <a:alpha val="82000"/>
              </a:srgbClr>
            </a:solidFill>
            <a:prstDash val="solid"/>
          </a:ln>
        </p:spPr>
        <p:txBody>
          <a:bodyPr/>
          <a:lstStyle/>
          <a:p>
            <a:endParaRPr lang="en-AU"/>
          </a:p>
        </p:txBody>
      </p:sp>
      <p:sp>
        <p:nvSpPr>
          <p:cNvPr id="20" name="Text 16"/>
          <p:cNvSpPr/>
          <p:nvPr/>
        </p:nvSpPr>
        <p:spPr>
          <a:xfrm>
            <a:off x="3630168" y="4041648"/>
            <a:ext cx="2194560" cy="228600"/>
          </a:xfrm>
          <a:prstGeom prst="rect">
            <a:avLst/>
          </a:prstGeom>
          <a:noFill/>
          <a:ln/>
        </p:spPr>
        <p:txBody>
          <a:bodyPr wrap="square" lIns="0" tIns="0" rIns="0" bIns="0" rtlCol="0" anchor="ctr"/>
          <a:lstStyle/>
          <a:p>
            <a:pPr marL="0" indent="0">
              <a:buNone/>
            </a:pPr>
            <a:r>
              <a:rPr lang="en-US" sz="1150" b="1" dirty="0">
                <a:solidFill>
                  <a:srgbClr val="F4A025"/>
                </a:solidFill>
              </a:rPr>
              <a:t>State locking</a:t>
            </a:r>
            <a:endParaRPr lang="en-US" sz="1150" dirty="0"/>
          </a:p>
        </p:txBody>
      </p:sp>
      <p:sp>
        <p:nvSpPr>
          <p:cNvPr id="21" name="Text 17"/>
          <p:cNvSpPr/>
          <p:nvPr/>
        </p:nvSpPr>
        <p:spPr>
          <a:xfrm>
            <a:off x="3630168" y="4325112"/>
            <a:ext cx="2194560" cy="429768"/>
          </a:xfrm>
          <a:prstGeom prst="rect">
            <a:avLst/>
          </a:prstGeom>
          <a:noFill/>
          <a:ln/>
        </p:spPr>
        <p:txBody>
          <a:bodyPr wrap="square" lIns="254" tIns="254" rIns="254" bIns="254" rtlCol="0" anchor="ctr">
            <a:normAutofit/>
          </a:bodyPr>
          <a:lstStyle/>
          <a:p>
            <a:pPr marL="0" indent="0">
              <a:buNone/>
            </a:pPr>
            <a:r>
              <a:rPr lang="en-US" sz="820" dirty="0">
                <a:solidFill>
                  <a:srgbClr val="F4EFE3"/>
                </a:solidFill>
              </a:rPr>
              <a:t>Player moves, bot turns and premoves are kept within controlled game states.</a:t>
            </a:r>
            <a:endParaRPr lang="en-US" sz="820" dirty="0"/>
          </a:p>
        </p:txBody>
      </p:sp>
      <p:sp>
        <p:nvSpPr>
          <p:cNvPr id="22" name="Text 18"/>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Testing &amp; Refinement Evidence</a:t>
            </a:r>
            <a:endParaRPr lang="en-US" sz="2350" dirty="0"/>
          </a:p>
        </p:txBody>
      </p:sp>
      <p:sp>
        <p:nvSpPr>
          <p:cNvPr id="4" name="Shape 2"/>
          <p:cNvSpPr/>
          <p:nvPr/>
        </p:nvSpPr>
        <p:spPr>
          <a:xfrm>
            <a:off x="621792" y="1060704"/>
            <a:ext cx="5376672" cy="3273552"/>
          </a:xfrm>
          <a:prstGeom prst="roundRect">
            <a:avLst>
              <a:gd name="adj" fmla="val 2235"/>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7).png"/>
          <p:cNvPicPr>
            <a:picLocks noChangeAspect="1"/>
          </p:cNvPicPr>
          <p:nvPr/>
        </p:nvPicPr>
        <p:blipFill>
          <a:blip r:embed="rId3"/>
          <a:srcRect l="5484" r="5484"/>
          <a:stretch/>
        </p:blipFill>
        <p:spPr>
          <a:xfrm>
            <a:off x="658368" y="1097280"/>
            <a:ext cx="5303520" cy="3200400"/>
          </a:xfrm>
          <a:prstGeom prst="rect">
            <a:avLst/>
          </a:prstGeom>
        </p:spPr>
      </p:pic>
      <p:sp>
        <p:nvSpPr>
          <p:cNvPr id="6" name="Shape 3"/>
          <p:cNvSpPr/>
          <p:nvPr/>
        </p:nvSpPr>
        <p:spPr>
          <a:xfrm>
            <a:off x="6309360" y="1097280"/>
            <a:ext cx="5074920" cy="3200400"/>
          </a:xfrm>
          <a:prstGeom prst="roundRect">
            <a:avLst>
              <a:gd name="adj" fmla="val 2286"/>
            </a:avLst>
          </a:prstGeom>
          <a:solidFill>
            <a:srgbClr val="172017"/>
          </a:solidFill>
          <a:ln w="8890">
            <a:solidFill>
              <a:srgbClr val="78B255">
                <a:alpha val="80000"/>
              </a:srgbClr>
            </a:solidFill>
            <a:prstDash val="solid"/>
          </a:ln>
        </p:spPr>
        <p:txBody>
          <a:bodyPr/>
          <a:lstStyle/>
          <a:p>
            <a:endParaRPr lang="en-AU"/>
          </a:p>
        </p:txBody>
      </p:sp>
      <p:sp>
        <p:nvSpPr>
          <p:cNvPr id="7" name="Text 4"/>
          <p:cNvSpPr/>
          <p:nvPr/>
        </p:nvSpPr>
        <p:spPr>
          <a:xfrm>
            <a:off x="6601968" y="1399032"/>
            <a:ext cx="2743200" cy="274320"/>
          </a:xfrm>
          <a:prstGeom prst="rect">
            <a:avLst/>
          </a:prstGeom>
          <a:noFill/>
          <a:ln/>
        </p:spPr>
        <p:txBody>
          <a:bodyPr wrap="square" lIns="0" tIns="0" rIns="0" bIns="0" rtlCol="0" anchor="ctr"/>
          <a:lstStyle/>
          <a:p>
            <a:pPr marL="0" indent="0">
              <a:buNone/>
            </a:pPr>
            <a:r>
              <a:rPr lang="en-US" sz="1700" b="1" dirty="0">
                <a:solidFill>
                  <a:srgbClr val="78B255"/>
                </a:solidFill>
              </a:rPr>
              <a:t>Testing strategy</a:t>
            </a:r>
            <a:endParaRPr lang="en-US" sz="1700" dirty="0"/>
          </a:p>
        </p:txBody>
      </p:sp>
      <p:sp>
        <p:nvSpPr>
          <p:cNvPr id="8" name="Text 5"/>
          <p:cNvSpPr/>
          <p:nvPr/>
        </p:nvSpPr>
        <p:spPr>
          <a:xfrm>
            <a:off x="6675120" y="1828800"/>
            <a:ext cx="4069080" cy="1691640"/>
          </a:xfrm>
          <a:prstGeom prst="rect">
            <a:avLst/>
          </a:prstGeom>
          <a:noFill/>
          <a:ln/>
        </p:spPr>
        <p:txBody>
          <a:bodyPr wrap="square" lIns="254" tIns="254" rIns="254" bIns="254" rtlCol="0" anchor="ctr">
            <a:normAutofit/>
          </a:bodyPr>
          <a:lstStyle/>
          <a:p>
            <a:r>
              <a:rPr lang="en-US" sz="1130" dirty="0">
                <a:solidFill>
                  <a:srgbClr val="F4EFE3"/>
                </a:solidFill>
              </a:rPr>
              <a:t>Automated unit tests using pytest</a:t>
            </a:r>
            <a:endParaRPr lang="en-US" sz="1130" dirty="0"/>
          </a:p>
          <a:p>
            <a:r>
              <a:rPr lang="en-US" sz="1130" dirty="0">
                <a:solidFill>
                  <a:srgbClr val="F4EFE3"/>
                </a:solidFill>
              </a:rPr>
              <a:t>Syntax checking with py_compile</a:t>
            </a:r>
            <a:endParaRPr lang="en-US" sz="1130" dirty="0"/>
          </a:p>
          <a:p>
            <a:r>
              <a:rPr lang="en-US" sz="1130" dirty="0">
                <a:solidFill>
                  <a:srgbClr val="F4EFE3"/>
                </a:solidFill>
              </a:rPr>
              <a:t>Manual testing of game modes and UI tabs</a:t>
            </a:r>
            <a:endParaRPr lang="en-US" sz="1130" dirty="0"/>
          </a:p>
          <a:p>
            <a:r>
              <a:rPr lang="en-US" sz="1130" dirty="0">
                <a:solidFill>
                  <a:srgbClr val="F4EFE3"/>
                </a:solidFill>
              </a:rPr>
              <a:t>Edge cases: promotion, timeout, puzzle resets, Stockfish paths</a:t>
            </a:r>
            <a:endParaRPr lang="en-US" sz="1130" dirty="0"/>
          </a:p>
          <a:p>
            <a:r>
              <a:rPr lang="en-US" sz="1130" dirty="0">
                <a:solidFill>
                  <a:srgbClr val="F4EFE3"/>
                </a:solidFill>
              </a:rPr>
              <a:t>User feedback used to refine layout, review and bot behaviour</a:t>
            </a:r>
            <a:endParaRPr lang="en-US" sz="1130" dirty="0"/>
          </a:p>
        </p:txBody>
      </p:sp>
      <p:sp>
        <p:nvSpPr>
          <p:cNvPr id="9" name="Shape 6"/>
          <p:cNvSpPr/>
          <p:nvPr/>
        </p:nvSpPr>
        <p:spPr>
          <a:xfrm>
            <a:off x="841248" y="4892040"/>
            <a:ext cx="1417320" cy="749808"/>
          </a:xfrm>
          <a:prstGeom prst="roundRect">
            <a:avLst>
              <a:gd name="adj" fmla="val 9756"/>
            </a:avLst>
          </a:prstGeom>
          <a:solidFill>
            <a:srgbClr val="182019"/>
          </a:solidFill>
          <a:ln w="8890">
            <a:solidFill>
              <a:srgbClr val="78B255">
                <a:alpha val="85000"/>
              </a:srgbClr>
            </a:solidFill>
            <a:prstDash val="solid"/>
          </a:ln>
        </p:spPr>
        <p:txBody>
          <a:bodyPr/>
          <a:lstStyle/>
          <a:p>
            <a:endParaRPr lang="en-AU"/>
          </a:p>
        </p:txBody>
      </p:sp>
      <p:sp>
        <p:nvSpPr>
          <p:cNvPr id="10" name="Text 7"/>
          <p:cNvSpPr/>
          <p:nvPr/>
        </p:nvSpPr>
        <p:spPr>
          <a:xfrm>
            <a:off x="978408" y="5001768"/>
            <a:ext cx="1143000" cy="292608"/>
          </a:xfrm>
          <a:prstGeom prst="rect">
            <a:avLst/>
          </a:prstGeom>
          <a:noFill/>
          <a:ln/>
        </p:spPr>
        <p:txBody>
          <a:bodyPr wrap="square" lIns="0" tIns="0" rIns="0" bIns="0" rtlCol="0" anchor="ctr"/>
          <a:lstStyle/>
          <a:p>
            <a:pPr marL="0" indent="0" algn="ctr">
              <a:buNone/>
            </a:pPr>
            <a:r>
              <a:rPr lang="en-US" sz="1900" b="1" dirty="0">
                <a:solidFill>
                  <a:srgbClr val="78B255"/>
                </a:solidFill>
              </a:rPr>
              <a:t>12</a:t>
            </a:r>
            <a:endParaRPr lang="en-US" sz="1900" dirty="0"/>
          </a:p>
        </p:txBody>
      </p:sp>
      <p:sp>
        <p:nvSpPr>
          <p:cNvPr id="11" name="Text 8"/>
          <p:cNvSpPr/>
          <p:nvPr/>
        </p:nvSpPr>
        <p:spPr>
          <a:xfrm>
            <a:off x="950976" y="5340096"/>
            <a:ext cx="1197864" cy="173736"/>
          </a:xfrm>
          <a:prstGeom prst="rect">
            <a:avLst/>
          </a:prstGeom>
          <a:noFill/>
          <a:ln/>
        </p:spPr>
        <p:txBody>
          <a:bodyPr wrap="square" lIns="0" tIns="0" rIns="0" bIns="0" rtlCol="0" anchor="ctr"/>
          <a:lstStyle/>
          <a:p>
            <a:pPr marL="0" indent="0" algn="ctr">
              <a:buNone/>
            </a:pPr>
            <a:r>
              <a:rPr lang="en-US" sz="680" dirty="0">
                <a:solidFill>
                  <a:srgbClr val="B7B2A8"/>
                </a:solidFill>
              </a:rPr>
              <a:t>tests passing</a:t>
            </a:r>
            <a:endParaRPr lang="en-US" sz="680" dirty="0"/>
          </a:p>
        </p:txBody>
      </p:sp>
      <p:sp>
        <p:nvSpPr>
          <p:cNvPr id="12" name="Shape 9"/>
          <p:cNvSpPr/>
          <p:nvPr/>
        </p:nvSpPr>
        <p:spPr>
          <a:xfrm>
            <a:off x="2487168" y="4892040"/>
            <a:ext cx="1417320" cy="749808"/>
          </a:xfrm>
          <a:prstGeom prst="roundRect">
            <a:avLst>
              <a:gd name="adj" fmla="val 9756"/>
            </a:avLst>
          </a:prstGeom>
          <a:solidFill>
            <a:srgbClr val="182019"/>
          </a:solidFill>
          <a:ln w="8890">
            <a:solidFill>
              <a:srgbClr val="F4A025">
                <a:alpha val="85000"/>
              </a:srgbClr>
            </a:solidFill>
            <a:prstDash val="solid"/>
          </a:ln>
        </p:spPr>
        <p:txBody>
          <a:bodyPr/>
          <a:lstStyle/>
          <a:p>
            <a:endParaRPr lang="en-AU"/>
          </a:p>
        </p:txBody>
      </p:sp>
      <p:sp>
        <p:nvSpPr>
          <p:cNvPr id="13" name="Text 10"/>
          <p:cNvSpPr/>
          <p:nvPr/>
        </p:nvSpPr>
        <p:spPr>
          <a:xfrm>
            <a:off x="2624328" y="5001768"/>
            <a:ext cx="1143000" cy="292608"/>
          </a:xfrm>
          <a:prstGeom prst="rect">
            <a:avLst/>
          </a:prstGeom>
          <a:noFill/>
          <a:ln/>
        </p:spPr>
        <p:txBody>
          <a:bodyPr wrap="square" lIns="0" tIns="0" rIns="0" bIns="0" rtlCol="0" anchor="ctr"/>
          <a:lstStyle/>
          <a:p>
            <a:pPr marL="0" indent="0" algn="ctr">
              <a:buNone/>
            </a:pPr>
            <a:r>
              <a:rPr lang="en-US" sz="1900" b="1" dirty="0">
                <a:solidFill>
                  <a:srgbClr val="F4A025"/>
                </a:solidFill>
              </a:rPr>
              <a:t>144</a:t>
            </a:r>
            <a:endParaRPr lang="en-US" sz="1900" dirty="0"/>
          </a:p>
        </p:txBody>
      </p:sp>
      <p:sp>
        <p:nvSpPr>
          <p:cNvPr id="14" name="Text 11"/>
          <p:cNvSpPr/>
          <p:nvPr/>
        </p:nvSpPr>
        <p:spPr>
          <a:xfrm>
            <a:off x="2596896" y="5340096"/>
            <a:ext cx="1197864" cy="173736"/>
          </a:xfrm>
          <a:prstGeom prst="rect">
            <a:avLst/>
          </a:prstGeom>
          <a:noFill/>
          <a:ln/>
        </p:spPr>
        <p:txBody>
          <a:bodyPr wrap="square" lIns="0" tIns="0" rIns="0" bIns="0" rtlCol="0" anchor="ctr"/>
          <a:lstStyle/>
          <a:p>
            <a:pPr marL="0" indent="0" algn="ctr">
              <a:buNone/>
            </a:pPr>
            <a:r>
              <a:rPr lang="en-US" sz="680" dirty="0">
                <a:solidFill>
                  <a:srgbClr val="B7B2A8"/>
                </a:solidFill>
              </a:rPr>
              <a:t>FPS target</a:t>
            </a:r>
            <a:endParaRPr lang="en-US" sz="680" dirty="0"/>
          </a:p>
        </p:txBody>
      </p:sp>
      <p:sp>
        <p:nvSpPr>
          <p:cNvPr id="15" name="Shape 12"/>
          <p:cNvSpPr/>
          <p:nvPr/>
        </p:nvSpPr>
        <p:spPr>
          <a:xfrm>
            <a:off x="4133088" y="4892040"/>
            <a:ext cx="1417320" cy="749808"/>
          </a:xfrm>
          <a:prstGeom prst="roundRect">
            <a:avLst>
              <a:gd name="adj" fmla="val 9756"/>
            </a:avLst>
          </a:prstGeom>
          <a:solidFill>
            <a:srgbClr val="182019"/>
          </a:solidFill>
          <a:ln w="8890">
            <a:solidFill>
              <a:srgbClr val="9E68FF">
                <a:alpha val="85000"/>
              </a:srgbClr>
            </a:solidFill>
            <a:prstDash val="solid"/>
          </a:ln>
        </p:spPr>
        <p:txBody>
          <a:bodyPr/>
          <a:lstStyle/>
          <a:p>
            <a:endParaRPr lang="en-AU"/>
          </a:p>
        </p:txBody>
      </p:sp>
      <p:sp>
        <p:nvSpPr>
          <p:cNvPr id="16" name="Text 13"/>
          <p:cNvSpPr/>
          <p:nvPr/>
        </p:nvSpPr>
        <p:spPr>
          <a:xfrm>
            <a:off x="4270248" y="5001768"/>
            <a:ext cx="1143000" cy="292608"/>
          </a:xfrm>
          <a:prstGeom prst="rect">
            <a:avLst/>
          </a:prstGeom>
          <a:noFill/>
          <a:ln/>
        </p:spPr>
        <p:txBody>
          <a:bodyPr wrap="square" lIns="0" tIns="0" rIns="0" bIns="0" rtlCol="0" anchor="ctr"/>
          <a:lstStyle/>
          <a:p>
            <a:pPr marL="0" indent="0" algn="ctr">
              <a:buNone/>
            </a:pPr>
            <a:r>
              <a:rPr lang="en-US" sz="1900" b="1" dirty="0">
                <a:solidFill>
                  <a:srgbClr val="9E68FF"/>
                </a:solidFill>
              </a:rPr>
              <a:t>5+</a:t>
            </a:r>
            <a:endParaRPr lang="en-US" sz="1900" dirty="0"/>
          </a:p>
        </p:txBody>
      </p:sp>
      <p:sp>
        <p:nvSpPr>
          <p:cNvPr id="17" name="Text 14"/>
          <p:cNvSpPr/>
          <p:nvPr/>
        </p:nvSpPr>
        <p:spPr>
          <a:xfrm>
            <a:off x="4242816" y="5340096"/>
            <a:ext cx="1197864" cy="173736"/>
          </a:xfrm>
          <a:prstGeom prst="rect">
            <a:avLst/>
          </a:prstGeom>
          <a:noFill/>
          <a:ln/>
        </p:spPr>
        <p:txBody>
          <a:bodyPr wrap="square" lIns="0" tIns="0" rIns="0" bIns="0" rtlCol="0" anchor="ctr"/>
          <a:lstStyle/>
          <a:p>
            <a:pPr marL="0" indent="0" algn="ctr">
              <a:buNone/>
            </a:pPr>
            <a:r>
              <a:rPr lang="en-US" sz="680" dirty="0">
                <a:solidFill>
                  <a:srgbClr val="B7B2A8"/>
                </a:solidFill>
              </a:rPr>
              <a:t>major feature cycles</a:t>
            </a:r>
            <a:endParaRPr lang="en-US" sz="680" dirty="0"/>
          </a:p>
        </p:txBody>
      </p:sp>
      <p:sp>
        <p:nvSpPr>
          <p:cNvPr id="18" name="Text 15"/>
          <p:cNvSpPr/>
          <p:nvPr/>
        </p:nvSpPr>
        <p:spPr>
          <a:xfrm>
            <a:off x="6309360" y="4983480"/>
            <a:ext cx="4892040" cy="530352"/>
          </a:xfrm>
          <a:prstGeom prst="rect">
            <a:avLst/>
          </a:prstGeom>
          <a:noFill/>
          <a:ln/>
        </p:spPr>
        <p:txBody>
          <a:bodyPr wrap="square" lIns="0" tIns="0" rIns="0" bIns="0" rtlCol="0" anchor="ctr">
            <a:normAutofit/>
          </a:bodyPr>
          <a:lstStyle/>
          <a:p>
            <a:pPr marL="0" indent="0">
              <a:buNone/>
            </a:pPr>
            <a:r>
              <a:rPr lang="en-US" sz="1040" dirty="0">
                <a:solidFill>
                  <a:srgbClr val="F4EFE3"/>
                </a:solidFill>
              </a:rPr>
              <a:t>Refinement examples: fixed puzzle IndexError, menu overflow, game review crash after checkmate, Stockfish path handling, move log scrolling, timer expiry behaviour and high-rated bot performance.</a:t>
            </a:r>
            <a:endParaRPr lang="en-US" sz="1040" dirty="0"/>
          </a:p>
        </p:txBody>
      </p:sp>
      <p:sp>
        <p:nvSpPr>
          <p:cNvPr id="19" name="Text 16"/>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GitHub, Deployment &amp; Handover</a:t>
            </a:r>
            <a:endParaRPr lang="en-US" sz="2350" dirty="0"/>
          </a:p>
        </p:txBody>
      </p:sp>
      <p:sp>
        <p:nvSpPr>
          <p:cNvPr id="4" name="Shape 2"/>
          <p:cNvSpPr/>
          <p:nvPr/>
        </p:nvSpPr>
        <p:spPr>
          <a:xfrm>
            <a:off x="557784" y="950976"/>
            <a:ext cx="5376672" cy="2816352"/>
          </a:xfrm>
          <a:prstGeom prst="roundRect">
            <a:avLst>
              <a:gd name="adj" fmla="val 2597"/>
            </a:avLst>
          </a:prstGeom>
          <a:solidFill>
            <a:srgbClr val="0B0F0C"/>
          </a:solidFill>
          <a:ln w="8890">
            <a:solidFill>
              <a:srgbClr val="2E402D">
                <a:alpha val="90000"/>
              </a:srgbClr>
            </a:solidFill>
            <a:prstDash val="solid"/>
          </a:ln>
        </p:spPr>
        <p:txBody>
          <a:bodyPr/>
          <a:lstStyle/>
          <a:p>
            <a:endParaRPr lang="en-AU"/>
          </a:p>
        </p:txBody>
      </p:sp>
      <p:pic>
        <p:nvPicPr>
          <p:cNvPr id="5" name="Image 0" descr="/mnt/data/image(243).png"/>
          <p:cNvPicPr>
            <a:picLocks noChangeAspect="1"/>
          </p:cNvPicPr>
          <p:nvPr/>
        </p:nvPicPr>
        <p:blipFill>
          <a:blip r:embed="rId3"/>
          <a:srcRect l="1049" r="1049"/>
          <a:stretch/>
        </p:blipFill>
        <p:spPr>
          <a:xfrm>
            <a:off x="594360" y="987552"/>
            <a:ext cx="5303520" cy="2743200"/>
          </a:xfrm>
          <a:prstGeom prst="rect">
            <a:avLst/>
          </a:prstGeom>
        </p:spPr>
      </p:pic>
      <p:sp>
        <p:nvSpPr>
          <p:cNvPr id="6" name="Shape 3"/>
          <p:cNvSpPr/>
          <p:nvPr/>
        </p:nvSpPr>
        <p:spPr>
          <a:xfrm>
            <a:off x="6181344" y="950976"/>
            <a:ext cx="5422392" cy="2816352"/>
          </a:xfrm>
          <a:prstGeom prst="roundRect">
            <a:avLst>
              <a:gd name="adj" fmla="val 2597"/>
            </a:avLst>
          </a:prstGeom>
          <a:solidFill>
            <a:srgbClr val="0B0F0C"/>
          </a:solidFill>
          <a:ln w="8890">
            <a:solidFill>
              <a:srgbClr val="2E402D">
                <a:alpha val="90000"/>
              </a:srgbClr>
            </a:solidFill>
            <a:prstDash val="solid"/>
          </a:ln>
        </p:spPr>
        <p:txBody>
          <a:bodyPr/>
          <a:lstStyle/>
          <a:p>
            <a:endParaRPr lang="en-AU"/>
          </a:p>
        </p:txBody>
      </p:sp>
      <p:pic>
        <p:nvPicPr>
          <p:cNvPr id="7" name="Image 1" descr="/mnt/data/image(244).png"/>
          <p:cNvPicPr>
            <a:picLocks noChangeAspect="1"/>
          </p:cNvPicPr>
          <p:nvPr/>
        </p:nvPicPr>
        <p:blipFill>
          <a:blip r:embed="rId4"/>
          <a:srcRect l="2363" r="2363"/>
          <a:stretch/>
        </p:blipFill>
        <p:spPr>
          <a:xfrm>
            <a:off x="6217920" y="987552"/>
            <a:ext cx="5349240" cy="2743200"/>
          </a:xfrm>
          <a:prstGeom prst="rect">
            <a:avLst/>
          </a:prstGeom>
        </p:spPr>
      </p:pic>
      <p:sp>
        <p:nvSpPr>
          <p:cNvPr id="8" name="Shape 4"/>
          <p:cNvSpPr/>
          <p:nvPr/>
        </p:nvSpPr>
        <p:spPr>
          <a:xfrm>
            <a:off x="557784" y="4279392"/>
            <a:ext cx="2542032" cy="987552"/>
          </a:xfrm>
          <a:prstGeom prst="roundRect">
            <a:avLst>
              <a:gd name="adj" fmla="val 7407"/>
            </a:avLst>
          </a:prstGeom>
          <a:solidFill>
            <a:srgbClr val="0B0F0C"/>
          </a:solidFill>
          <a:ln w="8890">
            <a:solidFill>
              <a:srgbClr val="2E402D">
                <a:alpha val="90000"/>
              </a:srgbClr>
            </a:solidFill>
            <a:prstDash val="solid"/>
          </a:ln>
        </p:spPr>
        <p:txBody>
          <a:bodyPr/>
          <a:lstStyle/>
          <a:p>
            <a:endParaRPr lang="en-AU"/>
          </a:p>
        </p:txBody>
      </p:sp>
      <p:pic>
        <p:nvPicPr>
          <p:cNvPr id="9" name="Image 2" descr="/mnt/data/image(245).png"/>
          <p:cNvPicPr>
            <a:picLocks noChangeAspect="1"/>
          </p:cNvPicPr>
          <p:nvPr/>
        </p:nvPicPr>
        <p:blipFill>
          <a:blip r:embed="rId5"/>
          <a:srcRect l="16125" r="16125"/>
          <a:stretch/>
        </p:blipFill>
        <p:spPr>
          <a:xfrm>
            <a:off x="594360" y="4315968"/>
            <a:ext cx="2468880" cy="914400"/>
          </a:xfrm>
          <a:prstGeom prst="rect">
            <a:avLst/>
          </a:prstGeom>
        </p:spPr>
      </p:pic>
      <p:sp>
        <p:nvSpPr>
          <p:cNvPr id="10" name="Shape 5"/>
          <p:cNvSpPr/>
          <p:nvPr/>
        </p:nvSpPr>
        <p:spPr>
          <a:xfrm>
            <a:off x="3392424" y="4279392"/>
            <a:ext cx="2542032" cy="987552"/>
          </a:xfrm>
          <a:prstGeom prst="roundRect">
            <a:avLst>
              <a:gd name="adj" fmla="val 7407"/>
            </a:avLst>
          </a:prstGeom>
          <a:solidFill>
            <a:srgbClr val="0B0F0C"/>
          </a:solidFill>
          <a:ln w="8890">
            <a:solidFill>
              <a:srgbClr val="2E402D">
                <a:alpha val="90000"/>
              </a:srgbClr>
            </a:solidFill>
            <a:prstDash val="solid"/>
          </a:ln>
        </p:spPr>
        <p:txBody>
          <a:bodyPr/>
          <a:lstStyle/>
          <a:p>
            <a:endParaRPr lang="en-AU"/>
          </a:p>
        </p:txBody>
      </p:sp>
      <p:pic>
        <p:nvPicPr>
          <p:cNvPr id="11" name="Image 3" descr="/mnt/data/image(246).png"/>
          <p:cNvPicPr>
            <a:picLocks noChangeAspect="1"/>
          </p:cNvPicPr>
          <p:nvPr/>
        </p:nvPicPr>
        <p:blipFill>
          <a:blip r:embed="rId6"/>
          <a:srcRect t="3600" b="3600"/>
          <a:stretch/>
        </p:blipFill>
        <p:spPr>
          <a:xfrm>
            <a:off x="3429000" y="4315968"/>
            <a:ext cx="2468880" cy="914400"/>
          </a:xfrm>
          <a:prstGeom prst="rect">
            <a:avLst/>
          </a:prstGeom>
        </p:spPr>
      </p:pic>
      <p:sp>
        <p:nvSpPr>
          <p:cNvPr id="12" name="Shape 6"/>
          <p:cNvSpPr/>
          <p:nvPr/>
        </p:nvSpPr>
        <p:spPr>
          <a:xfrm>
            <a:off x="6400800" y="4224528"/>
            <a:ext cx="4892040" cy="1234440"/>
          </a:xfrm>
          <a:prstGeom prst="roundRect">
            <a:avLst>
              <a:gd name="adj" fmla="val 5926"/>
            </a:avLst>
          </a:prstGeom>
          <a:solidFill>
            <a:srgbClr val="172017"/>
          </a:solidFill>
          <a:ln w="8890">
            <a:solidFill>
              <a:srgbClr val="F4A025">
                <a:alpha val="80000"/>
              </a:srgbClr>
            </a:solidFill>
            <a:prstDash val="solid"/>
          </a:ln>
        </p:spPr>
        <p:txBody>
          <a:bodyPr/>
          <a:lstStyle/>
          <a:p>
            <a:endParaRPr lang="en-AU"/>
          </a:p>
        </p:txBody>
      </p:sp>
      <p:sp>
        <p:nvSpPr>
          <p:cNvPr id="13" name="Text 7"/>
          <p:cNvSpPr/>
          <p:nvPr/>
        </p:nvSpPr>
        <p:spPr>
          <a:xfrm>
            <a:off x="6656832" y="4462272"/>
            <a:ext cx="2926080" cy="219456"/>
          </a:xfrm>
          <a:prstGeom prst="rect">
            <a:avLst/>
          </a:prstGeom>
          <a:noFill/>
          <a:ln/>
        </p:spPr>
        <p:txBody>
          <a:bodyPr wrap="square" lIns="0" tIns="0" rIns="0" bIns="0" rtlCol="0" anchor="ctr"/>
          <a:lstStyle/>
          <a:p>
            <a:pPr marL="0" indent="0">
              <a:buNone/>
            </a:pPr>
            <a:r>
              <a:rPr lang="en-US" sz="1300" b="1" dirty="0">
                <a:solidFill>
                  <a:srgbClr val="F4A025"/>
                </a:solidFill>
              </a:rPr>
              <a:t>Release-ready evidence</a:t>
            </a:r>
            <a:endParaRPr lang="en-US" sz="1300" dirty="0"/>
          </a:p>
        </p:txBody>
      </p:sp>
      <p:sp>
        <p:nvSpPr>
          <p:cNvPr id="14" name="Text 8"/>
          <p:cNvSpPr/>
          <p:nvPr/>
        </p:nvSpPr>
        <p:spPr>
          <a:xfrm>
            <a:off x="6748272" y="4773168"/>
            <a:ext cx="3977640" cy="438912"/>
          </a:xfrm>
          <a:prstGeom prst="rect">
            <a:avLst/>
          </a:prstGeom>
          <a:noFill/>
          <a:ln/>
        </p:spPr>
        <p:txBody>
          <a:bodyPr wrap="square" lIns="254" tIns="254" rIns="254" bIns="254" rtlCol="0" anchor="ctr">
            <a:normAutofit/>
          </a:bodyPr>
          <a:lstStyle/>
          <a:p>
            <a:r>
              <a:rPr lang="en-US" sz="840" dirty="0">
                <a:solidFill>
                  <a:srgbClr val="F4EFE3"/>
                </a:solidFill>
              </a:rPr>
              <a:t>GitHub repository with README and commit history</a:t>
            </a:r>
            <a:endParaRPr lang="en-US" sz="840" dirty="0"/>
          </a:p>
          <a:p>
            <a:r>
              <a:rPr lang="en-US" sz="840" dirty="0">
                <a:solidFill>
                  <a:srgbClr val="F4EFE3"/>
                </a:solidFill>
              </a:rPr>
              <a:t>Executable built in dist/HenryChess</a:t>
            </a:r>
            <a:endParaRPr lang="en-US" sz="840" dirty="0"/>
          </a:p>
          <a:p>
            <a:r>
              <a:rPr lang="en-US" sz="840" dirty="0">
                <a:solidFill>
                  <a:srgbClr val="F4EFE3"/>
                </a:solidFill>
              </a:rPr>
              <a:t>Stockfish placed in engines/stockfish/windows</a:t>
            </a:r>
            <a:endParaRPr lang="en-US" sz="840" dirty="0"/>
          </a:p>
          <a:p>
            <a:r>
              <a:rPr lang="en-US" sz="840" dirty="0">
                <a:solidFill>
                  <a:srgbClr val="F4EFE3"/>
                </a:solidFill>
              </a:rPr>
              <a:t>ZIP distribution for users to extract and run</a:t>
            </a:r>
            <a:endParaRPr lang="en-US" sz="840" dirty="0"/>
          </a:p>
        </p:txBody>
      </p:sp>
      <p:sp>
        <p:nvSpPr>
          <p:cNvPr id="15" name="Text 9"/>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Henry Chess • Year 12 Software Engineering Major Project • Advanced desktop app • Python/Pygame • Stockfish review • PyInstaller deployment</a:t>
            </a:r>
            <a:endParaRPr lang="en-US" sz="6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1"/>
          </a:solidFill>
          <a:ln w="12700">
            <a:solidFill>
              <a:srgbClr val="0E1411"/>
            </a:solidFill>
            <a:prstDash val="solid"/>
          </a:ln>
        </p:spPr>
        <p:txBody>
          <a:bodyPr/>
          <a:lstStyle/>
          <a:p>
            <a:endParaRPr lang="en-AU"/>
          </a:p>
        </p:txBody>
      </p:sp>
      <p:sp>
        <p:nvSpPr>
          <p:cNvPr id="3" name="Text 1"/>
          <p:cNvSpPr/>
          <p:nvPr/>
        </p:nvSpPr>
        <p:spPr>
          <a:xfrm>
            <a:off x="566928" y="274320"/>
            <a:ext cx="10149840" cy="384048"/>
          </a:xfrm>
          <a:prstGeom prst="rect">
            <a:avLst/>
          </a:prstGeom>
          <a:noFill/>
          <a:ln/>
        </p:spPr>
        <p:txBody>
          <a:bodyPr wrap="square" lIns="0" tIns="0" rIns="0" bIns="0" rtlCol="0" anchor="ctr"/>
          <a:lstStyle/>
          <a:p>
            <a:pPr marL="0" indent="0">
              <a:buNone/>
            </a:pPr>
            <a:r>
              <a:rPr lang="en-US" sz="2350" b="1" dirty="0">
                <a:solidFill>
                  <a:srgbClr val="FFFFFF"/>
                </a:solidFill>
                <a:latin typeface="Aptos Display" pitchFamily="34" charset="0"/>
                <a:ea typeface="Aptos Display" pitchFamily="34" charset="-122"/>
                <a:cs typeface="Aptos Display" pitchFamily="34" charset="-120"/>
              </a:rPr>
              <a:t>Challenges, Future Improvements &amp; Live Demo</a:t>
            </a:r>
            <a:endParaRPr lang="en-US" sz="2350" dirty="0"/>
          </a:p>
        </p:txBody>
      </p:sp>
      <p:sp>
        <p:nvSpPr>
          <p:cNvPr id="4" name="Shape 2"/>
          <p:cNvSpPr/>
          <p:nvPr/>
        </p:nvSpPr>
        <p:spPr>
          <a:xfrm>
            <a:off x="658368" y="1170432"/>
            <a:ext cx="3429000" cy="3520440"/>
          </a:xfrm>
          <a:prstGeom prst="roundRect">
            <a:avLst>
              <a:gd name="adj" fmla="val 2133"/>
            </a:avLst>
          </a:prstGeom>
          <a:solidFill>
            <a:srgbClr val="172017"/>
          </a:solidFill>
          <a:ln w="8890">
            <a:solidFill>
              <a:srgbClr val="F05D5E">
                <a:alpha val="80000"/>
              </a:srgbClr>
            </a:solidFill>
            <a:prstDash val="solid"/>
          </a:ln>
        </p:spPr>
        <p:txBody>
          <a:bodyPr/>
          <a:lstStyle/>
          <a:p>
            <a:endParaRPr lang="en-AU"/>
          </a:p>
        </p:txBody>
      </p:sp>
      <p:sp>
        <p:nvSpPr>
          <p:cNvPr id="5" name="Text 3"/>
          <p:cNvSpPr/>
          <p:nvPr/>
        </p:nvSpPr>
        <p:spPr>
          <a:xfrm>
            <a:off x="932688" y="1444752"/>
            <a:ext cx="2651760" cy="274320"/>
          </a:xfrm>
          <a:prstGeom prst="rect">
            <a:avLst/>
          </a:prstGeom>
          <a:noFill/>
          <a:ln/>
        </p:spPr>
        <p:txBody>
          <a:bodyPr wrap="square" lIns="0" tIns="0" rIns="0" bIns="0" rtlCol="0" anchor="ctr"/>
          <a:lstStyle/>
          <a:p>
            <a:pPr marL="0" indent="0">
              <a:buNone/>
            </a:pPr>
            <a:r>
              <a:rPr lang="en-US" sz="1600" b="1" dirty="0">
                <a:solidFill>
                  <a:srgbClr val="F05D5E"/>
                </a:solidFill>
              </a:rPr>
              <a:t>Major challenges</a:t>
            </a:r>
            <a:endParaRPr lang="en-US" sz="1600" dirty="0"/>
          </a:p>
        </p:txBody>
      </p:sp>
      <p:sp>
        <p:nvSpPr>
          <p:cNvPr id="6" name="Text 4"/>
          <p:cNvSpPr/>
          <p:nvPr/>
        </p:nvSpPr>
        <p:spPr>
          <a:xfrm>
            <a:off x="1005840" y="1874520"/>
            <a:ext cx="2606040" cy="1645920"/>
          </a:xfrm>
          <a:prstGeom prst="rect">
            <a:avLst/>
          </a:prstGeom>
          <a:noFill/>
          <a:ln/>
        </p:spPr>
        <p:txBody>
          <a:bodyPr wrap="square" lIns="254" tIns="254" rIns="254" bIns="254" rtlCol="0" anchor="ctr">
            <a:normAutofit/>
          </a:bodyPr>
          <a:lstStyle/>
          <a:p>
            <a:r>
              <a:rPr lang="en-US" sz="1080" dirty="0">
                <a:solidFill>
                  <a:srgbClr val="F4EFE3"/>
                </a:solidFill>
              </a:rPr>
              <a:t>Legal move edge cases</a:t>
            </a:r>
            <a:endParaRPr lang="en-US" sz="1080" dirty="0"/>
          </a:p>
          <a:p>
            <a:r>
              <a:rPr lang="en-US" sz="1080" dirty="0">
                <a:solidFill>
                  <a:srgbClr val="F4EFE3"/>
                </a:solidFill>
              </a:rPr>
              <a:t>AI speed vs strength balance</a:t>
            </a:r>
            <a:endParaRPr lang="en-US" sz="1080" dirty="0"/>
          </a:p>
          <a:p>
            <a:r>
              <a:rPr lang="en-US" sz="1080" dirty="0">
                <a:solidFill>
                  <a:srgbClr val="F4EFE3"/>
                </a:solidFill>
              </a:rPr>
              <a:t>Puzzles applying the correct side to move</a:t>
            </a:r>
            <a:endParaRPr lang="en-US" sz="1080" dirty="0"/>
          </a:p>
          <a:p>
            <a:r>
              <a:rPr lang="en-US" sz="1080" dirty="0">
                <a:solidFill>
                  <a:srgbClr val="F4EFE3"/>
                </a:solidFill>
              </a:rPr>
              <a:t>Stockfish path and executable packaging</a:t>
            </a:r>
            <a:endParaRPr lang="en-US" sz="1080" dirty="0"/>
          </a:p>
          <a:p>
            <a:r>
              <a:rPr lang="en-US" sz="1080" dirty="0">
                <a:solidFill>
                  <a:srgbClr val="F4EFE3"/>
                </a:solidFill>
              </a:rPr>
              <a:t>Responsive layout and scrollable panels</a:t>
            </a:r>
            <a:endParaRPr lang="en-US" sz="1080" dirty="0"/>
          </a:p>
        </p:txBody>
      </p:sp>
      <p:sp>
        <p:nvSpPr>
          <p:cNvPr id="7" name="Shape 5"/>
          <p:cNvSpPr/>
          <p:nvPr/>
        </p:nvSpPr>
        <p:spPr>
          <a:xfrm>
            <a:off x="4389120" y="1170432"/>
            <a:ext cx="3429000" cy="3520440"/>
          </a:xfrm>
          <a:prstGeom prst="roundRect">
            <a:avLst>
              <a:gd name="adj" fmla="val 2133"/>
            </a:avLst>
          </a:prstGeom>
          <a:solidFill>
            <a:srgbClr val="172017"/>
          </a:solidFill>
          <a:ln w="8890">
            <a:solidFill>
              <a:srgbClr val="78B255">
                <a:alpha val="80000"/>
              </a:srgbClr>
            </a:solidFill>
            <a:prstDash val="solid"/>
          </a:ln>
        </p:spPr>
        <p:txBody>
          <a:bodyPr/>
          <a:lstStyle/>
          <a:p>
            <a:endParaRPr lang="en-AU"/>
          </a:p>
        </p:txBody>
      </p:sp>
      <p:sp>
        <p:nvSpPr>
          <p:cNvPr id="8" name="Text 6"/>
          <p:cNvSpPr/>
          <p:nvPr/>
        </p:nvSpPr>
        <p:spPr>
          <a:xfrm>
            <a:off x="4663440" y="1444752"/>
            <a:ext cx="2651760" cy="274320"/>
          </a:xfrm>
          <a:prstGeom prst="rect">
            <a:avLst/>
          </a:prstGeom>
          <a:noFill/>
          <a:ln/>
        </p:spPr>
        <p:txBody>
          <a:bodyPr wrap="square" lIns="0" tIns="0" rIns="0" bIns="0" rtlCol="0" anchor="ctr"/>
          <a:lstStyle/>
          <a:p>
            <a:pPr marL="0" indent="0">
              <a:buNone/>
            </a:pPr>
            <a:r>
              <a:rPr lang="en-US" sz="1600" b="1" dirty="0">
                <a:solidFill>
                  <a:srgbClr val="78B255"/>
                </a:solidFill>
              </a:rPr>
              <a:t>Future improvements</a:t>
            </a:r>
            <a:endParaRPr lang="en-US" sz="1600" dirty="0"/>
          </a:p>
        </p:txBody>
      </p:sp>
      <p:sp>
        <p:nvSpPr>
          <p:cNvPr id="9" name="Text 7"/>
          <p:cNvSpPr/>
          <p:nvPr/>
        </p:nvSpPr>
        <p:spPr>
          <a:xfrm>
            <a:off x="4736592" y="1874520"/>
            <a:ext cx="2606040" cy="1645920"/>
          </a:xfrm>
          <a:prstGeom prst="rect">
            <a:avLst/>
          </a:prstGeom>
          <a:noFill/>
          <a:ln/>
        </p:spPr>
        <p:txBody>
          <a:bodyPr wrap="square" lIns="254" tIns="254" rIns="254" bIns="254" rtlCol="0" anchor="ctr">
            <a:normAutofit/>
          </a:bodyPr>
          <a:lstStyle/>
          <a:p>
            <a:r>
              <a:rPr lang="en-US" sz="1080" dirty="0">
                <a:solidFill>
                  <a:srgbClr val="F4EFE3"/>
                </a:solidFill>
              </a:rPr>
              <a:t>Online multiplayer</a:t>
            </a:r>
            <a:endParaRPr lang="en-US" sz="1080" dirty="0"/>
          </a:p>
          <a:p>
            <a:r>
              <a:rPr lang="en-US" sz="1080" dirty="0">
                <a:solidFill>
                  <a:srgbClr val="F4EFE3"/>
                </a:solidFill>
              </a:rPr>
              <a:t>Improved opening book</a:t>
            </a:r>
            <a:endParaRPr lang="en-US" sz="1080" dirty="0"/>
          </a:p>
          <a:p>
            <a:r>
              <a:rPr lang="en-US" sz="1080" dirty="0">
                <a:solidFill>
                  <a:srgbClr val="F4EFE3"/>
                </a:solidFill>
              </a:rPr>
              <a:t>More validated puzzles</a:t>
            </a:r>
            <a:endParaRPr lang="en-US" sz="1080" dirty="0"/>
          </a:p>
          <a:p>
            <a:r>
              <a:rPr lang="en-US" sz="1080" dirty="0">
                <a:solidFill>
                  <a:srgbClr val="F4EFE3"/>
                </a:solidFill>
              </a:rPr>
              <a:t>User accounts and progress tracking</a:t>
            </a:r>
            <a:endParaRPr lang="en-US" sz="1080" dirty="0"/>
          </a:p>
          <a:p>
            <a:r>
              <a:rPr lang="en-US" sz="1080" dirty="0">
                <a:solidFill>
                  <a:srgbClr val="F4EFE3"/>
                </a:solidFill>
              </a:rPr>
              <a:t>Expanded accessibility options</a:t>
            </a:r>
            <a:endParaRPr lang="en-US" sz="1080" dirty="0"/>
          </a:p>
        </p:txBody>
      </p:sp>
      <p:sp>
        <p:nvSpPr>
          <p:cNvPr id="10" name="Shape 8"/>
          <p:cNvSpPr/>
          <p:nvPr/>
        </p:nvSpPr>
        <p:spPr>
          <a:xfrm>
            <a:off x="8119872" y="1170432"/>
            <a:ext cx="3429000" cy="3520440"/>
          </a:xfrm>
          <a:prstGeom prst="roundRect">
            <a:avLst>
              <a:gd name="adj" fmla="val 2133"/>
            </a:avLst>
          </a:prstGeom>
          <a:solidFill>
            <a:srgbClr val="172017"/>
          </a:solidFill>
          <a:ln w="8890">
            <a:solidFill>
              <a:srgbClr val="F4A025">
                <a:alpha val="80000"/>
              </a:srgbClr>
            </a:solidFill>
            <a:prstDash val="solid"/>
          </a:ln>
        </p:spPr>
        <p:txBody>
          <a:bodyPr/>
          <a:lstStyle/>
          <a:p>
            <a:endParaRPr lang="en-AU"/>
          </a:p>
        </p:txBody>
      </p:sp>
      <p:sp>
        <p:nvSpPr>
          <p:cNvPr id="11" name="Text 9"/>
          <p:cNvSpPr/>
          <p:nvPr/>
        </p:nvSpPr>
        <p:spPr>
          <a:xfrm>
            <a:off x="8394192" y="1444752"/>
            <a:ext cx="2651760" cy="274320"/>
          </a:xfrm>
          <a:prstGeom prst="rect">
            <a:avLst/>
          </a:prstGeom>
          <a:noFill/>
          <a:ln/>
        </p:spPr>
        <p:txBody>
          <a:bodyPr wrap="square" lIns="0" tIns="0" rIns="0" bIns="0" rtlCol="0" anchor="ctr"/>
          <a:lstStyle/>
          <a:p>
            <a:pPr marL="0" indent="0">
              <a:buNone/>
            </a:pPr>
            <a:r>
              <a:rPr lang="en-US" sz="1600" b="1" dirty="0">
                <a:solidFill>
                  <a:srgbClr val="F4A025"/>
                </a:solidFill>
              </a:rPr>
              <a:t>Live demo path</a:t>
            </a:r>
            <a:endParaRPr lang="en-US" sz="1600" dirty="0"/>
          </a:p>
        </p:txBody>
      </p:sp>
      <p:sp>
        <p:nvSpPr>
          <p:cNvPr id="12" name="Text 10"/>
          <p:cNvSpPr/>
          <p:nvPr/>
        </p:nvSpPr>
        <p:spPr>
          <a:xfrm>
            <a:off x="8467344" y="1874520"/>
            <a:ext cx="2606040" cy="1645920"/>
          </a:xfrm>
          <a:prstGeom prst="rect">
            <a:avLst/>
          </a:prstGeom>
          <a:noFill/>
          <a:ln/>
        </p:spPr>
        <p:txBody>
          <a:bodyPr wrap="square" lIns="254" tIns="254" rIns="254" bIns="254" rtlCol="0" anchor="ctr">
            <a:normAutofit/>
          </a:bodyPr>
          <a:lstStyle/>
          <a:p>
            <a:r>
              <a:rPr lang="en-US" sz="1080" dirty="0">
                <a:solidFill>
                  <a:srgbClr val="F4EFE3"/>
                </a:solidFill>
              </a:rPr>
              <a:t>Open executable</a:t>
            </a:r>
            <a:endParaRPr lang="en-US" sz="1080" dirty="0"/>
          </a:p>
          <a:p>
            <a:r>
              <a:rPr lang="en-US" sz="1080" dirty="0">
                <a:solidFill>
                  <a:srgbClr val="F4EFE3"/>
                </a:solidFill>
              </a:rPr>
              <a:t>Start Vs AI game</a:t>
            </a:r>
            <a:endParaRPr lang="en-US" sz="1080" dirty="0"/>
          </a:p>
          <a:p>
            <a:r>
              <a:rPr lang="en-US" sz="1080" dirty="0">
                <a:solidFill>
                  <a:srgbClr val="F4EFE3"/>
                </a:solidFill>
              </a:rPr>
              <a:t>Show premove + annotation</a:t>
            </a:r>
            <a:endParaRPr lang="en-US" sz="1080" dirty="0"/>
          </a:p>
          <a:p>
            <a:r>
              <a:rPr lang="en-US" sz="1080" dirty="0">
                <a:solidFill>
                  <a:srgbClr val="F4EFE3"/>
                </a:solidFill>
              </a:rPr>
              <a:t>Open Practice Bots</a:t>
            </a:r>
            <a:endParaRPr lang="en-US" sz="1080" dirty="0"/>
          </a:p>
          <a:p>
            <a:r>
              <a:rPr lang="en-US" sz="1080" dirty="0">
                <a:solidFill>
                  <a:srgbClr val="F4EFE3"/>
                </a:solidFill>
              </a:rPr>
              <a:t>Generate Game Review</a:t>
            </a:r>
            <a:endParaRPr lang="en-US" sz="1080" dirty="0"/>
          </a:p>
        </p:txBody>
      </p:sp>
      <p:sp>
        <p:nvSpPr>
          <p:cNvPr id="13" name="Text 11"/>
          <p:cNvSpPr/>
          <p:nvPr/>
        </p:nvSpPr>
        <p:spPr>
          <a:xfrm>
            <a:off x="804672" y="5285232"/>
            <a:ext cx="2103120" cy="237744"/>
          </a:xfrm>
          <a:prstGeom prst="rect">
            <a:avLst/>
          </a:prstGeom>
          <a:noFill/>
          <a:ln/>
        </p:spPr>
        <p:txBody>
          <a:bodyPr wrap="square" lIns="0" tIns="0" rIns="0" bIns="0" rtlCol="0" anchor="ctr"/>
          <a:lstStyle/>
          <a:p>
            <a:pPr marL="0" indent="0">
              <a:buNone/>
            </a:pPr>
            <a:r>
              <a:rPr lang="en-US" sz="1250" b="1" dirty="0">
                <a:solidFill>
                  <a:srgbClr val="F4A025"/>
                </a:solidFill>
              </a:rPr>
              <a:t>Final reflection</a:t>
            </a:r>
            <a:endParaRPr lang="en-US" sz="1250" dirty="0"/>
          </a:p>
        </p:txBody>
      </p:sp>
      <p:sp>
        <p:nvSpPr>
          <p:cNvPr id="14" name="Text 12"/>
          <p:cNvSpPr/>
          <p:nvPr/>
        </p:nvSpPr>
        <p:spPr>
          <a:xfrm>
            <a:off x="822960" y="5632704"/>
            <a:ext cx="10424160" cy="320040"/>
          </a:xfrm>
          <a:prstGeom prst="rect">
            <a:avLst/>
          </a:prstGeom>
          <a:noFill/>
          <a:ln/>
        </p:spPr>
        <p:txBody>
          <a:bodyPr wrap="square" lIns="0" tIns="0" rIns="0" bIns="0" rtlCol="0" anchor="ctr">
            <a:normAutofit/>
          </a:bodyPr>
          <a:lstStyle/>
          <a:p>
            <a:pPr marL="0" indent="0" algn="ctr">
              <a:buNone/>
            </a:pPr>
            <a:r>
              <a:rPr lang="en-US" sz="1350" b="1" dirty="0">
                <a:solidFill>
                  <a:srgbClr val="F4EFE3"/>
                </a:solidFill>
              </a:rPr>
              <a:t>This project demonstrates the complete software lifecycle: planning, coding, debugging, user feedback, source acknowledgement, testing, documentation, GitHub management and deployment.</a:t>
            </a:r>
            <a:endParaRPr lang="en-US" sz="1350" dirty="0"/>
          </a:p>
        </p:txBody>
      </p:sp>
      <p:sp>
        <p:nvSpPr>
          <p:cNvPr id="15" name="Text 13"/>
          <p:cNvSpPr/>
          <p:nvPr/>
        </p:nvSpPr>
        <p:spPr>
          <a:xfrm>
            <a:off x="9784080" y="6080760"/>
            <a:ext cx="1417320" cy="329184"/>
          </a:xfrm>
          <a:prstGeom prst="rect">
            <a:avLst/>
          </a:prstGeom>
          <a:noFill/>
          <a:ln/>
        </p:spPr>
        <p:txBody>
          <a:bodyPr wrap="square" lIns="0" tIns="0" rIns="0" bIns="0" rtlCol="0" anchor="ctr"/>
          <a:lstStyle/>
          <a:p>
            <a:pPr marL="0" indent="0" algn="r">
              <a:buNone/>
            </a:pPr>
            <a:r>
              <a:rPr lang="en-US" sz="1800" b="1" dirty="0">
                <a:solidFill>
                  <a:srgbClr val="78B255"/>
                </a:solidFill>
              </a:rPr>
              <a:t>Questions?</a:t>
            </a:r>
            <a:endParaRPr lang="en-US" sz="1800" dirty="0"/>
          </a:p>
        </p:txBody>
      </p:sp>
      <p:sp>
        <p:nvSpPr>
          <p:cNvPr id="16" name="Text 14"/>
          <p:cNvSpPr/>
          <p:nvPr/>
        </p:nvSpPr>
        <p:spPr>
          <a:xfrm>
            <a:off x="548640" y="6537960"/>
            <a:ext cx="11064240" cy="164592"/>
          </a:xfrm>
          <a:prstGeom prst="rect">
            <a:avLst/>
          </a:prstGeom>
          <a:noFill/>
          <a:ln/>
        </p:spPr>
        <p:txBody>
          <a:bodyPr wrap="square" lIns="0" tIns="0" rIns="0" bIns="0" rtlCol="0" anchor="ctr"/>
          <a:lstStyle/>
          <a:p>
            <a:pPr marL="0" indent="0" algn="ctr">
              <a:buNone/>
            </a:pPr>
            <a:r>
              <a:rPr lang="en-US" sz="630" dirty="0">
                <a:solidFill>
                  <a:srgbClr val="8B877D"/>
                </a:solidFill>
              </a:rPr>
              <a:t>Slide 15 • Demo handover and final reflection</a:t>
            </a:r>
            <a:endParaRPr lang="en-US" sz="6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1938</Words>
  <Application>Microsoft Office PowerPoint</Application>
  <PresentationFormat>Widescreen</PresentationFormat>
  <Paragraphs>235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Bonnyrigg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Henry Chess Major Project Presentation</dc:title>
  <dc:subject>Major Project</dc:subject>
  <dc:creator>Henry Pham</dc:creator>
  <cp:lastModifiedBy>henry pham</cp:lastModifiedBy>
  <cp:revision>2</cp:revision>
  <dcterms:created xsi:type="dcterms:W3CDTF">2026-06-30T17:33:52Z</dcterms:created>
  <dcterms:modified xsi:type="dcterms:W3CDTF">2026-06-30T17:57:16Z</dcterms:modified>
</cp:coreProperties>
</file>